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5dac274e58b46c3" /><Relationship Type="http://schemas.openxmlformats.org/officeDocument/2006/relationships/extended-properties" Target="/docProps/app.xml" Id="Rc8a706aff91e4618" /><Relationship Type="http://schemas.openxmlformats.org/officeDocument/2006/relationships/officeDocument" Target="/ppt/presentation.xml" Id="R68399239f5a7445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8155eca3d8e4015"/>
  </p:sldMasterIdLst>
  <p:notesMasterIdLst>
    <p:notesMasterId xmlns:r="http://schemas.openxmlformats.org/officeDocument/2006/relationships" r:id="R24c861c02b2d4194"/>
  </p:notesMasterIdLst>
  <p:sldIdLst>
    <p:sldId xmlns:r="http://schemas.openxmlformats.org/officeDocument/2006/relationships" id="256" r:id="Rea120c9c3a834d6a"/>
    <p:sldId xmlns:r="http://schemas.openxmlformats.org/officeDocument/2006/relationships" id="257" r:id="R843b53af1f16461e"/>
    <p:sldId xmlns:r="http://schemas.openxmlformats.org/officeDocument/2006/relationships" id="258" r:id="R7760e1eed0364142"/>
    <p:sldId xmlns:r="http://schemas.openxmlformats.org/officeDocument/2006/relationships" id="259" r:id="Rf7eced5cd2fd43ad"/>
    <p:sldId xmlns:r="http://schemas.openxmlformats.org/officeDocument/2006/relationships" id="260" r:id="R596b08e1bcf747f3"/>
    <p:sldId xmlns:r="http://schemas.openxmlformats.org/officeDocument/2006/relationships" id="261" r:id="Ra3c8ca6ad6c348fa"/>
    <p:sldId xmlns:r="http://schemas.openxmlformats.org/officeDocument/2006/relationships" id="262" r:id="R8eea823f3486442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c7ad9086b164cfc" /><Relationship Type="http://schemas.openxmlformats.org/officeDocument/2006/relationships/slideMaster" Target="/ppt/slideMasters/slideMaster1.xml" Id="Rb8155eca3d8e4015" /><Relationship Type="http://schemas.openxmlformats.org/officeDocument/2006/relationships/notesMaster" Target="/ppt/notesMasters/notesMaster1.xml" Id="R24c861c02b2d4194" /><Relationship Type="http://schemas.openxmlformats.org/officeDocument/2006/relationships/presProps" Target="/ppt/presProps.xml" Id="R160aae9ac4644267" /><Relationship Type="http://schemas.openxmlformats.org/officeDocument/2006/relationships/tableStyles" Target="/ppt/tableStyles.xml" Id="Rfde62cb6f8974eef" /><Relationship Type="http://schemas.openxmlformats.org/officeDocument/2006/relationships/slide" Target="/ppt/slides/slide1.xml" Id="Rea120c9c3a834d6a" /><Relationship Type="http://schemas.openxmlformats.org/officeDocument/2006/relationships/slide" Target="/ppt/slides/slide2.xml" Id="R843b53af1f16461e" /><Relationship Type="http://schemas.openxmlformats.org/officeDocument/2006/relationships/slide" Target="/ppt/slides/slide3.xml" Id="R7760e1eed0364142" /><Relationship Type="http://schemas.openxmlformats.org/officeDocument/2006/relationships/slide" Target="/ppt/slides/slide4.xml" Id="Rf7eced5cd2fd43ad" /><Relationship Type="http://schemas.openxmlformats.org/officeDocument/2006/relationships/slide" Target="/ppt/slides/slide5.xml" Id="R596b08e1bcf747f3" /><Relationship Type="http://schemas.openxmlformats.org/officeDocument/2006/relationships/slide" Target="/ppt/slides/slide6.xml" Id="Ra3c8ca6ad6c348fa" /><Relationship Type="http://schemas.openxmlformats.org/officeDocument/2006/relationships/slide" Target="/ppt/slides/slide7.xml" Id="R8eea823f3486442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7c142edba36442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f6bc60fc543414d" /><Relationship Type="http://schemas.openxmlformats.org/officeDocument/2006/relationships/notesMaster" Target="/ppt/notesMasters/notesMaster1.xml" Id="Re9c6c28fd14b4ef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83b14414d0840f2" /><Relationship Type="http://schemas.openxmlformats.org/officeDocument/2006/relationships/notesMaster" Target="/ppt/notesMasters/notesMaster1.xml" Id="Rd05833674f9b4ee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e7847681b9542e6" /><Relationship Type="http://schemas.openxmlformats.org/officeDocument/2006/relationships/notesMaster" Target="/ppt/notesMasters/notesMaster1.xml" Id="Rd14f45246ddc48b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9dce885a6134393" /><Relationship Type="http://schemas.openxmlformats.org/officeDocument/2006/relationships/notesMaster" Target="/ppt/notesMasters/notesMaster1.xml" Id="R4e934400e5fd48e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ea8bb34a5314aed" /><Relationship Type="http://schemas.openxmlformats.org/officeDocument/2006/relationships/notesMaster" Target="/ppt/notesMasters/notesMaster1.xml" Id="R86ade681ade642b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723f457018c48fe" /><Relationship Type="http://schemas.openxmlformats.org/officeDocument/2006/relationships/notesMaster" Target="/ppt/notesMasters/notesMaster1.xml" Id="Reef628387094498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f4c958462ef417c" /><Relationship Type="http://schemas.openxmlformats.org/officeDocument/2006/relationships/notesMaster" Target="/ppt/notesMasters/notesMaster1.xml" Id="R46e20daaf854443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0:00–0:25. Agent potrafi wysłać poufne dane albo wykonać kosztowne wywołanie. Nie chcemy przy każdej zmianie zasad przebudowywać agenta. FastFence to bramka między aplikacją a modelem lub narzędziem. Zasady opisujemy i zmieniamy centralnie, a kolejne wywołanie korzysta z aktywnej polityki. W tej prezentacji pokażemy konkretne zachowanie działającej paczki 1.0.7.</a:t>
            </a:r>
          </a:p>
          <a:p xmlns:a="http://schemas.openxmlformats.org/drawingml/2006/main">
            <a:r>
              <a:t>Źródła: README.md; presentation/output/demo-evidence.json.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0:25–1:00. Najbardziej użyteczne jest to, że regułę opisujemy zwykłym językiem. Tutaj: blokuj spersonalizowane rekomendacje finansowe, dopuszczaj definicje. Dodajemy oczekiwane przykłady. Laya ocenia aktywną i proponowaną politykę, a my widzimy wyniki i dokładny diff przed aktywacją. Zapisane przykłady wracają jako regresje przy kolejnych zmianach. Ten rzeczywisty przegląd zaliczył osiem zakresowych przypadków. Nie twierdzimy, że dopiero nowa reguła zablokowała przykład finansowy: bazowa ochrona też go blokowała.</a:t>
            </a:r>
          </a:p>
          <a:p xmlns:a="http://schemas.openxmlformats.org/drawingml/2006/main">
            <a:r>
              <a:t>Źródła: presentation/assets/demo-semantic-rule.png; presentation/output/demo-evidence.json; specs/changes/136-reviewed-semantic-rule-activation.yaml.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1:00–1:30. To dowód zmiany bez restartu: dokładnie ten sam tekst Hello i ten sam działający gateway. Najpierw polityka v4 pozwoliła wykonać rzeczywisty model. Po zatwierdzeniu lokalnej reguły tekstowej polityka v5 zatrzymała kolejne Hello, zanim uruchomił się upstream. Panel pokazuje wersję i granicę wykonania. Reguła tej demonstracji jest lokalna, a nie semantyczna.</a:t>
            </a:r>
          </a:p>
          <a:p xmlns:a="http://schemas.openxmlformats.org/drawingml/2006/main">
            <a:r>
              <a:t>Źródła: presentation/output/demo-evidence.json; presentation/assets/demo-allowed.png; presentation/assets/demo-blocked.png. Czas 1 ms na oryginalnym zrzucie to pojedyncze zarejestrowane żądanie, nie benchmark ani gwarancja wydajności.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1:30–2:00. Ta sama polityka działa niezależnie od tego, czy aplikacja korzysta z REST, interfejsu zgodnego z OpenAI, MCP czy ACP. Kontrole lokalne wykonują się najpierw: uprawnienia, limity, detektory Python i wzorce. Zatrzymana tutaj treść nie wymaga inferencji. Dla pozostałych żądań Laya ocenia znaczenie zgodnie z konfiguracją polityki. Wyjście też przechodzi kontrole, zanim wróci do aplikacji. Blokada odpowiedzi nie cofa wcześniej wykonanego narzędzia.</a:t>
            </a:r>
          </a:p>
          <a:p xmlns:a="http://schemas.openxmlformats.org/drawingml/2006/main">
            <a:r>
              <a:t>Źródła: src/fastfence/modules/control/application/services/inspection.py; src/fastfence/modules/control/application/services/execution.py; docs/integration-reference.md.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2:00–2:35. Ochrona nie kończy się na wpisanym prompcie. W prawdziwym nagraniu wysłaliśmy dwustronicowy PDF z dwoma syntetycznymi adresami e-mail. Lokalny OCR wyciągnął tekst, a polityka zastąpiła oba adresy znacznikami. Pobieramy dokładnie chroniony Markdown lub przekazujemy go do modelu. Model rzeczywiście odpowiedział, a Laya sprawdziła wejście i wyjście. Załącznik pozostaje po stronie lokalnego OCR. Ten pokaz używa nieodwracalnej redakcji. Oddzielnie produkt obsługuje samowystarczalne szyfrowane tokeny i dozwolone przywracanie bez bazy konwersacji.</a:t>
            </a:r>
          </a:p>
          <a:p xmlns:a="http://schemas.openxmlformats.org/drawingml/2006/main">
            <a:r>
              <a:t>Źródła: presentation/output/ocr-demo-evidence.json; presentation/output/demo-document-approved.md; src/fastfence/workflows/document_markdown.py; docs/examples/asymmetric-anonymization.md. OCR może pomijać znaki. Nie zmieniamy pikseli oryginalnego 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2:35–3:00. Te zasady mają dać się zmieniać w działającym systemie. Poprawna polityka aktywuje się bez restartu, a błędna konfiguracja pozostawia ostatni prawidłowy stan. Powtórna inicjalizacja zachowuje istniejące klucze i dane dostępowe. To idempotencja konfiguracji, nie obietnica deduplikacji wywołań biznesowych. Produkt można uruchomić z publicznej paczki jednym poleceniem. Pierwszy start wymaga dostępnego Ollama i może pobrać modele oraz zależności.</a:t>
            </a:r>
          </a:p>
          <a:p xmlns:a="http://schemas.openxmlformats.org/drawingml/2006/main">
            <a:r>
              <a:t>Źródła: README.md; tests/integration/test_policy_validation.py; tests/unit/test_one_command_startup.py; confirmed initialization and reload regressions.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Opcjonalny załącznik poza trzema minutami. Wyniki dotyczą różnych zakresów i nie sumujemy ich. 1484 testy źródłowe, 406 testów paczki zainstalowanej poza repozytorium. Dwanaście rzeczywistych żądań obejmowało 24 oceny wejścia i wyjścia. Tysiąc kontrolowanych żądań sprawdzało kolejkę, nie wydajność tysiąca generacji modelu. Semantyka wciąż ma wyniki fałszywie dodatnie i ujemne, więc osiem przykładów nie dowodzi uniwersalnej trafności. Liczniki budżetu i audyt są lokalne dla procesu. Historycznych pomiarów 1.0.2 nie przedstawiamy jako opóźnień 1.0.7.</a:t>
            </a:r>
          </a:p>
          <a:p xmlns:a="http://schemas.openxmlformats.org/drawingml/2006/main">
            <a:r>
              <a:t>Źródła: evaluation/results/request-queue-1.0.7.json; presentation/evidence.md; evaluation/results/reviewed-predicate-plan-diagnostic.json.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077e7c786042f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ff82643489849a3" /><Relationship Type="http://schemas.openxmlformats.org/officeDocument/2006/relationships/slideLayout" Target="/ppt/slideLayouts/slideLayout1.xml" Id="R3e11f6b51aa1412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e11f6b51aa1412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c3857856334420" /><Relationship Type="http://schemas.openxmlformats.org/officeDocument/2006/relationships/image" Target="/ppt/media/image.png" Id="R18ccb5cec9144313" /><Relationship Type="http://schemas.openxmlformats.org/officeDocument/2006/relationships/notesSlide" Target="/ppt/notesSlides/notesSlide1.xml" Id="R8be0642ea1224ef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c6b499bde546aa" /><Relationship Type="http://schemas.openxmlformats.org/officeDocument/2006/relationships/image" Target="/ppt/media/image2.png" Id="Ra695bbd98e7e45c9" /><Relationship Type="http://schemas.openxmlformats.org/officeDocument/2006/relationships/notesSlide" Target="/ppt/notesSlides/notesSlide2.xml" Id="R3df6cf174c9442b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f1eafdf4e04d86" /><Relationship Type="http://schemas.openxmlformats.org/officeDocument/2006/relationships/image" Target="/ppt/media/image3.png" Id="R02585681b16644c4" /><Relationship Type="http://schemas.openxmlformats.org/officeDocument/2006/relationships/image" Target="/ppt/media/image4.png" Id="R34a9a3af4a8b4fe1" /><Relationship Type="http://schemas.openxmlformats.org/officeDocument/2006/relationships/notesSlide" Target="/ppt/notesSlides/notesSlide3.xml" Id="R5255245e56d2424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2c0491d33a4098" /><Relationship Type="http://schemas.openxmlformats.org/officeDocument/2006/relationships/notesSlide" Target="/ppt/notesSlides/notesSlide4.xml" Id="R9a3705e1bfea494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1babb5a08c4678" /><Relationship Type="http://schemas.openxmlformats.org/officeDocument/2006/relationships/image" Target="/ppt/media/image5.png" Id="R95f5861918a04b61" /><Relationship Type="http://schemas.openxmlformats.org/officeDocument/2006/relationships/image" Target="/ppt/media/image6.png" Id="R9c1319a0965b4940" /><Relationship Type="http://schemas.openxmlformats.org/officeDocument/2006/relationships/notesSlide" Target="/ppt/notesSlides/notesSlide5.xml" Id="R7b44e4e8563e42d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d76cc8ce3f4b49" /><Relationship Type="http://schemas.openxmlformats.org/officeDocument/2006/relationships/notesSlide" Target="/ppt/notesSlides/notesSlide6.xml" Id="Re4de2b667cdc488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79779cb38e4eab" /><Relationship Type="http://schemas.openxmlformats.org/officeDocument/2006/relationships/notesSlide" Target="/ppt/notesSlides/notesSlide7.xml" Id="R23c907e89f4e4ed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25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E0A6DB-148C-4E38-A04C-86825E373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CF5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CCF578"/>
                </a:solidFill>
                <a:latin typeface="Helvetica Neue"/>
                <a:ea typeface="Helvetica Neue"/>
                <a:cs typeface="Helvetica Neue"/>
              </a:rPr>
              <a:t>FASTFENCE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F0579F-E02E-4FFE-B793-2DFBB9AAA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57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9CBC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B9CBC7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ccb5cec9144313"/>
          <a:stretch xmlns:a="http://schemas.openxmlformats.org/drawingml/2006/main"/>
        </p:blipFill>
        <p:spPr>
          <a:xfrm xmlns:a="http://schemas.openxmlformats.org/drawingml/2006/main">
            <a:off x="10385652" y="1095375"/>
            <a:ext cx="1088571" cy="10953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CBC379-705C-4E3F-8B0A-5F51DE719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33475"/>
            <a:ext cx="990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0" b="1">
                <a:solidFill>
                  <a:srgbClr val="F6F7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0" b="1">
                <a:solidFill>
                  <a:srgbClr val="F6F7F2"/>
                </a:solidFill>
                <a:latin typeface="Helvetica Neue"/>
                <a:ea typeface="Helvetica Neue"/>
                <a:cs typeface="Helvetica Neue"/>
              </a:rPr>
              <a:t>FastFence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ECC21B-9710-4A97-A1ED-892E2A6F4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600325"/>
            <a:ext cx="104775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0">
                <a:solidFill>
                  <a:srgbClr val="CCF5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0">
                <a:solidFill>
                  <a:srgbClr val="CCF578"/>
                </a:solidFill>
                <a:latin typeface="Helvetica Neue"/>
                <a:ea typeface="Helvetica Neue"/>
                <a:cs typeface="Helvetica Neue"/>
              </a:rPr>
              <a:t>AI policies that change</a:t>
            </a:r>
          </a:p>
          <a:p xmlns:a="http://schemas.openxmlformats.org/drawingml/2006/main">
            <a:pPr>
              <a:defRPr sz="4650" b="0">
                <a:solidFill>
                  <a:srgbClr val="CCF5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0">
                <a:solidFill>
                  <a:srgbClr val="CCF578"/>
                </a:solidFill>
                <a:latin typeface="Helvetica Neue"/>
                <a:ea typeface="Helvetica Neue"/>
                <a:cs typeface="Helvetica Neue"/>
              </a:rPr>
              <a:t>without changing agent code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AA2905-9D62-48F0-A554-59B00D1C0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85775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B9CBC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B9CBC7"/>
                </a:solidFill>
                <a:latin typeface="Helvetica Neue"/>
                <a:ea typeface="Helvetica Neue"/>
                <a:cs typeface="Helvetica Neue"/>
              </a:rPr>
              <a:t>One gateway between your agents and their models or tools.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6AF896-5D9C-4B4D-AF5F-6274C74CA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6000750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6F7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F6F7F2"/>
                </a:solidFill>
                <a:latin typeface="Helvetica Neue"/>
                <a:ea typeface="Helvetica Neue"/>
                <a:cs typeface="Helvetica Neue"/>
              </a:rPr>
              <a:t>llama-lovers</a:t>
            </a:r>
          </a:p>
        </p:txBody>
      </p:sp>
    </p:spTree>
    <p:extLst>
      <p:ext uri="{BB962C8B-B14F-4D97-AF65-F5344CB8AC3E}">
        <p14:creationId xmlns:p14="http://schemas.microsoft.com/office/powerpoint/2010/main" val="11353563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D8579B-C98B-461E-B7AF-C62AC5AE4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7F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7F72"/>
                </a:solidFill>
                <a:latin typeface="Helvetica Neue"/>
                <a:ea typeface="Helvetica Neue"/>
                <a:cs typeface="Helvetica Neue"/>
              </a:rPr>
              <a:t>FASTFENCE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0AED13-81A7-49D4-BA20-A390E138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57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3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35E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608A7F-6CFC-4BBC-BC2C-D06E5DF32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04875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102C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4125" b="1">
                <a:solidFill>
                  <a:srgbClr val="102C2A"/>
                </a:solidFill>
                <a:latin typeface="Helvetica Neue"/>
                <a:ea typeface="Helvetica Neue"/>
                <a:cs typeface="Helvetica Neue"/>
              </a:rPr>
              <a:t>A policy written in words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5E97EE-0157-4F48-86C4-C50EE4369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43125"/>
            <a:ext cx="50958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007F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07F72"/>
                </a:solidFill>
                <a:latin typeface="Helvetica Neue"/>
                <a:ea typeface="Helvetica Neue"/>
                <a:cs typeface="Helvetica Neue"/>
              </a:rPr>
              <a:t>“Block personalized</a:t>
            </a:r>
          </a:p>
          <a:p xmlns:a="http://schemas.openxmlformats.org/drawingml/2006/main">
            <a:pPr>
              <a:defRPr sz="2775" b="1">
                <a:solidFill>
                  <a:srgbClr val="007F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07F72"/>
                </a:solidFill>
                <a:latin typeface="Helvetica Neue"/>
                <a:ea typeface="Helvetica Neue"/>
                <a:cs typeface="Helvetica Neue"/>
              </a:rPr>
              <a:t>financial recommendations.”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8955D1-B631-43D5-A328-7A3026398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43325"/>
            <a:ext cx="4857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2C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02C2A"/>
                </a:solidFill>
                <a:latin typeface="Helvetica Neue"/>
                <a:ea typeface="Helvetica Neue"/>
                <a:cs typeface="Helvetica Neue"/>
              </a:rPr>
              <a:t>You define allowed and blocked examples.</a:t>
            </a:r>
          </a:p>
          <a:p xmlns:a="http://schemas.openxmlformats.org/drawingml/2006/main">
            <a:pPr>
              <a:defRPr sz="2025" b="0">
                <a:solidFill>
                  <a:srgbClr val="102C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02C2A"/>
                </a:solidFill>
                <a:latin typeface="Helvetica Neue"/>
                <a:ea typeface="Helvetica Neue"/>
                <a:cs typeface="Helvetica Neue"/>
              </a:rPr>
              <a:t>Laya compares the proposed behavior.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AB7069-CC1D-4B26-85B4-AA8B93C2F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95850"/>
            <a:ext cx="4857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C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02C2A"/>
                </a:solidFill>
                <a:latin typeface="Helvetica Neue"/>
                <a:ea typeface="Helvetica Neue"/>
                <a:cs typeface="Helvetica Neue"/>
              </a:rPr>
              <a:t>Review the diff.</a:t>
            </a:r>
          </a:p>
          <a:p xmlns:a="http://schemas.openxmlformats.org/drawingml/2006/main">
            <a:pPr>
              <a:defRPr sz="2325" b="1">
                <a:solidFill>
                  <a:srgbClr val="102C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02C2A"/>
                </a:solidFill>
                <a:latin typeface="Helvetica Neue"/>
                <a:ea typeface="Helvetica Neue"/>
                <a:cs typeface="Helvetica Neue"/>
              </a:rPr>
              <a:t>Activate the tested policy.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95bbd98e7e45c9"/>
          <a:stretch xmlns:a="http://schemas.openxmlformats.org/drawingml/2006/main"/>
        </p:blipFill>
        <p:spPr>
          <a:xfrm xmlns:a="http://schemas.openxmlformats.org/drawingml/2006/main">
            <a:off x="6097210" y="1809750"/>
            <a:ext cx="5522080" cy="46101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F406BF-31C1-4AF4-91BE-C241F18FB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9825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3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635E"/>
                </a:solidFill>
                <a:latin typeface="Helvetica Neue"/>
                <a:ea typeface="Helvetica Neue"/>
                <a:cs typeface="Helvetica Neue"/>
              </a:rPr>
              <a:t>Recorded review: 8 of 8 scoped cases passed</a:t>
            </a:r>
          </a:p>
        </p:txBody>
      </p:sp>
    </p:spTree>
    <p:extLst>
      <p:ext uri="{BB962C8B-B14F-4D97-AF65-F5344CB8AC3E}">
        <p14:creationId xmlns:p14="http://schemas.microsoft.com/office/powerpoint/2010/main" val="17362147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65006C-3193-4ED9-B794-8FF28AA69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7F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7F72"/>
                </a:solidFill>
                <a:latin typeface="Helvetica Neue"/>
                <a:ea typeface="Helvetica Neue"/>
                <a:cs typeface="Helvetica Neue"/>
              </a:rPr>
              <a:t>FASTFENCE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CDE9CB-79F3-4343-8F6A-7FC3A7C03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57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3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35E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64166C-1303-4A01-802E-25E73B11C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04875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02C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102C2A"/>
                </a:solidFill>
                <a:latin typeface="Helvetica Neue"/>
                <a:ea typeface="Helvetica Neue"/>
                <a:cs typeface="Helvetica Neue"/>
              </a:rPr>
              <a:t>Same request. New policy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0FC604-78DA-4EE5-9D4B-E62C02B99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71675"/>
            <a:ext cx="428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102C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102C2A"/>
                </a:solidFill>
                <a:latin typeface="Helvetica Neue"/>
                <a:ea typeface="Helvetica Neue"/>
                <a:cs typeface="Helvetica Neue"/>
              </a:rPr>
              <a:t>“Hello”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5E7CCE-851C-4475-9AA5-F1BB47BEE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24175"/>
            <a:ext cx="514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7F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7F72"/>
                </a:solidFill>
                <a:latin typeface="Helvetica Neue"/>
                <a:ea typeface="Helvetica Neue"/>
                <a:cs typeface="Helvetica Neue"/>
              </a:rPr>
              <a:t>v4  ALLOW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C384B4-5E3C-4D3E-A1AF-5EFF9948A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24175"/>
            <a:ext cx="5219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C536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C53642"/>
                </a:solidFill>
                <a:latin typeface="Helvetica Neue"/>
                <a:ea typeface="Helvetica Neue"/>
                <a:cs typeface="Helvetica Neue"/>
              </a:rPr>
              <a:t>v5  BLOCK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585681b16644c4"/>
          <a:stretch xmlns:a="http://schemas.openxmlformats.org/drawingml/2006/main"/>
        </p:blipFill>
        <p:spPr>
          <a:xfrm xmlns:a="http://schemas.openxmlformats.org/drawingml/2006/main">
            <a:off x="571500" y="3715147"/>
            <a:ext cx="5238750" cy="2418556"/>
          </a:xfrm>
          <a:prstGeom xmlns:a="http://schemas.openxmlformats.org/drawingml/2006/main" prst="rect">
            <a:avLst/>
          </a:prstGeom>
        </p:spPr>
      </p:pic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a9a3af4a8b4fe1"/>
          <a:stretch xmlns:a="http://schemas.openxmlformats.org/drawingml/2006/main"/>
        </p:blipFill>
        <p:spPr>
          <a:xfrm xmlns:a="http://schemas.openxmlformats.org/drawingml/2006/main">
            <a:off x="6404836" y="3714750"/>
            <a:ext cx="5230678" cy="2571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A5E16F-3F71-4F2B-8FD2-A961B1F7C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095500"/>
            <a:ext cx="752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263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52635E"/>
                </a:solidFill>
                <a:latin typeface="Helvetica Neue"/>
                <a:ea typeface="Helvetica Neue"/>
                <a:cs typeface="Helvetica Neue"/>
              </a:rPr>
              <a:t>One running gateway. Local text rule activated without restart.</a:t>
            </a:r>
          </a:p>
        </p:txBody>
      </p:sp>
    </p:spTree>
    <p:extLst>
      <p:ext uri="{BB962C8B-B14F-4D97-AF65-F5344CB8AC3E}">
        <p14:creationId xmlns:p14="http://schemas.microsoft.com/office/powerpoint/2010/main" val="11176442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925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E05266-5B34-4DF4-9CF3-A377A18F6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CF5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CCF578"/>
                </a:solidFill>
                <a:latin typeface="Helvetica Neue"/>
                <a:ea typeface="Helvetica Neue"/>
                <a:cs typeface="Helvetica Neue"/>
              </a:rPr>
              <a:t>FASTFENCE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76FAB8-CC3F-4D16-B9A6-303E79EC5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57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9CBC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B9CBC7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CD05B6-2283-4248-8145-2CC65C1BB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33450"/>
            <a:ext cx="10953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75" b="1">
                <a:solidFill>
                  <a:srgbClr val="F6F7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75" b="1">
                <a:solidFill>
                  <a:srgbClr val="F6F7F2"/>
                </a:solidFill>
                <a:latin typeface="Helvetica Neue"/>
                <a:ea typeface="Helvetica Neue"/>
                <a:cs typeface="Helvetica Neue"/>
              </a:rPr>
              <a:t>One policy on both sides</a:t>
            </a:r>
          </a:p>
          <a:p xmlns:a="http://schemas.openxmlformats.org/drawingml/2006/main">
            <a:pPr>
              <a:defRPr sz="4275" b="1">
                <a:solidFill>
                  <a:srgbClr val="F6F7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75" b="1">
                <a:solidFill>
                  <a:srgbClr val="F6F7F2"/>
                </a:solidFill>
                <a:latin typeface="Helvetica Neue"/>
                <a:ea typeface="Helvetica Neue"/>
                <a:cs typeface="Helvetica Neue"/>
              </a:rPr>
              <a:t>of the model call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929872-997A-4EBE-B65E-395ACCA3C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0375"/>
            <a:ext cx="1047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CCF5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CCF578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21AE96-D0BF-4D4F-A34E-6A9C54A8C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933700"/>
            <a:ext cx="9239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6F7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F6F7F2"/>
                </a:solidFill>
                <a:latin typeface="Helvetica Neue"/>
                <a:ea typeface="Helvetica Neue"/>
                <a:cs typeface="Helvetica Neue"/>
              </a:rPr>
              <a:t>Local checks first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88F3E9-B11A-4E8A-A027-9F888B0DC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552825"/>
            <a:ext cx="942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B9CBC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B9CBC7"/>
                </a:solidFill>
                <a:latin typeface="Helvetica Neue"/>
                <a:ea typeface="Helvetica Neue"/>
                <a:cs typeface="Helvetica Neue"/>
              </a:rPr>
              <a:t>Python detectors, regex, permissions and budgets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B6385D-7F79-4150-87B4-5AD394121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33900"/>
            <a:ext cx="1047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CCF5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CCF578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A02109-E62B-4314-85D6-7FEB76A87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45770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6F7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F6F7F2"/>
                </a:solidFill>
                <a:latin typeface="Helvetica Neue"/>
                <a:ea typeface="Helvetica Neue"/>
                <a:cs typeface="Helvetica Neue"/>
              </a:rPr>
              <a:t>Meaning where the policy requires 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4FA202-59BB-49A5-97C4-74A535B6C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076825"/>
            <a:ext cx="942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B9CBC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B9CBC7"/>
                </a:solidFill>
                <a:latin typeface="Helvetica Neue"/>
                <a:ea typeface="Helvetica Neue"/>
                <a:cs typeface="Helvetica Neue"/>
              </a:rPr>
              <a:t>Laya assesses input and output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DF968A-11FC-4BD7-8D80-FF727A636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5315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CCF5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CCF578"/>
                </a:solidFill>
                <a:latin typeface="Helvetica Neue"/>
                <a:ea typeface="Helvetica Neue"/>
                <a:cs typeface="Helvetica Neue"/>
              </a:rPr>
              <a:t>REST     OpenAI-compatible     MCP     ACP</a:t>
            </a:r>
          </a:p>
        </p:txBody>
      </p:sp>
    </p:spTree>
    <p:extLst>
      <p:ext uri="{BB962C8B-B14F-4D97-AF65-F5344CB8AC3E}">
        <p14:creationId xmlns:p14="http://schemas.microsoft.com/office/powerpoint/2010/main" val="7703995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AE00FC-E181-4919-AC58-082676F55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7F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7F72"/>
                </a:solidFill>
                <a:latin typeface="Helvetica Neue"/>
                <a:ea typeface="Helvetica Neue"/>
                <a:cs typeface="Helvetica Neue"/>
              </a:rPr>
              <a:t>FASTFENCE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B19821-0D60-4645-8891-9DD61C5B7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57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3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35E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F9D415-92AD-477C-BB93-FD4BB3D89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04875"/>
            <a:ext cx="11144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02C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102C2A"/>
                </a:solidFill>
                <a:latin typeface="Helvetica Neue"/>
                <a:ea typeface="Helvetica Neue"/>
                <a:cs typeface="Helvetica Neue"/>
              </a:rPr>
              <a:t>Useful documents. Protected content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D43F2B-6FEA-4796-8AC4-6DD2EAEE1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621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263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52635E"/>
                </a:solidFill>
                <a:latin typeface="Helvetica Neue"/>
                <a:ea typeface="Helvetica Neue"/>
                <a:cs typeface="Helvetica Neue"/>
              </a:rPr>
              <a:t>Original PDF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938FBA-8094-4C22-9D36-BE417988E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62150"/>
            <a:ext cx="519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F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7F72"/>
                </a:solidFill>
                <a:latin typeface="Helvetica Neue"/>
                <a:ea typeface="Helvetica Neue"/>
                <a:cs typeface="Helvetica Neue"/>
              </a:rPr>
              <a:t>Markdown for the model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f5861918a04b61"/>
          <a:stretch xmlns:a="http://schemas.openxmlformats.org/drawingml/2006/main"/>
        </p:blipFill>
        <p:spPr>
          <a:xfrm xmlns:a="http://schemas.openxmlformats.org/drawingml/2006/main">
            <a:off x="571500" y="2688765"/>
            <a:ext cx="4953000" cy="2499645"/>
          </a:xfrm>
          <a:prstGeom xmlns:a="http://schemas.openxmlformats.org/drawingml/2006/main" prst="rect">
            <a:avLst/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1319a0965b4940"/>
          <a:stretch xmlns:a="http://schemas.openxmlformats.org/drawingml/2006/main"/>
        </p:blipFill>
        <p:spPr>
          <a:xfrm xmlns:a="http://schemas.openxmlformats.org/drawingml/2006/main">
            <a:off x="6419850" y="2574656"/>
            <a:ext cx="5191125" cy="3185063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E9AE90-839E-4E5D-A73B-FC8B612EB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0250"/>
            <a:ext cx="10906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C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02C2A"/>
                </a:solidFill>
                <a:latin typeface="Helvetica Neue"/>
                <a:ea typeface="Helvetica Neue"/>
                <a:cs typeface="Helvetica Neue"/>
              </a:rPr>
              <a:t>2 pages. 2 email addresses redacted.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48C56A-54FE-46B6-B546-9C06A40C5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34125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3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2635E"/>
                </a:solidFill>
                <a:latin typeface="Helvetica Neue"/>
                <a:ea typeface="Helvetica Neue"/>
                <a:cs typeface="Helvetica Neue"/>
              </a:rPr>
              <a:t>Local OCR supplies protected text to the model. No conversation database required.</a:t>
            </a:r>
          </a:p>
        </p:txBody>
      </p:sp>
    </p:spTree>
    <p:extLst>
      <p:ext uri="{BB962C8B-B14F-4D97-AF65-F5344CB8AC3E}">
        <p14:creationId xmlns:p14="http://schemas.microsoft.com/office/powerpoint/2010/main" val="876246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925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0FF4D7-FC1E-440A-B730-8B220A52C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CF5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CCF578"/>
                </a:solidFill>
                <a:latin typeface="Helvetica Neue"/>
                <a:ea typeface="Helvetica Neue"/>
                <a:cs typeface="Helvetica Neue"/>
              </a:rPr>
              <a:t>FASTFENCE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34B39B-AC86-4945-948C-44B563D99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57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9CBC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B9CBC7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C7FD24-E95B-49C3-9A14-73B1A9718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0125"/>
            <a:ext cx="10953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F6F7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F6F7F2"/>
                </a:solidFill>
                <a:latin typeface="Helvetica Neue"/>
                <a:ea typeface="Helvetica Neue"/>
                <a:cs typeface="Helvetica Neue"/>
              </a:rPr>
              <a:t>Rules evolve.</a:t>
            </a:r>
          </a:p>
          <a:p xmlns:a="http://schemas.openxmlformats.org/drawingml/2006/main">
            <a:pPr>
              <a:defRPr sz="4650" b="1">
                <a:solidFill>
                  <a:srgbClr val="F6F7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F6F7F2"/>
                </a:solidFill>
                <a:latin typeface="Helvetica Neue"/>
                <a:ea typeface="Helvetica Neue"/>
                <a:cs typeface="Helvetica Neue"/>
              </a:rPr>
              <a:t>The agent keeps running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26A8AB-5595-46E1-A781-4561E5242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33700"/>
            <a:ext cx="10620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B9CBC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B9CBC7"/>
                </a:solidFill>
                <a:latin typeface="Helvetica Neue"/>
                <a:ea typeface="Helvetica Neue"/>
                <a:cs typeface="Helvetica Neue"/>
              </a:rPr>
              <a:t>Valid changes activate live. Invalid changes keep the last valid policy.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4C8897-6EAF-48A6-A0DC-A1B13F69D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14775"/>
            <a:ext cx="10620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B9CBC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B9CBC7"/>
                </a:solidFill>
                <a:latin typeface="Helvetica Neue"/>
                <a:ea typeface="Helvetica Neue"/>
                <a:cs typeface="Helvetica Neue"/>
              </a:rPr>
              <a:t>Idempotent setup preserves configuration, credentials and keys.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67BA8D-B372-478A-88F3-243E91402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5300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CCF5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CCF578"/>
                </a:solidFill>
                <a:latin typeface="Helvetica Neue"/>
                <a:ea typeface="Helvetica Neue"/>
                <a:cs typeface="Helvetica Neue"/>
              </a:rPr>
              <a:t>uv tool run fastfence@1.0.7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DC066D-0B85-47F0-88A1-7F5A4C638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19800"/>
            <a:ext cx="10477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6F7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6F7F2"/>
                </a:solidFill>
                <a:latin typeface="Helvetica Neue"/>
                <a:ea typeface="Helvetica Neue"/>
                <a:cs typeface="Helvetica Neue"/>
              </a:rPr>
              <a:t>fastfence.dev</a:t>
            </a:r>
          </a:p>
        </p:txBody>
      </p:sp>
    </p:spTree>
    <p:extLst>
      <p:ext uri="{BB962C8B-B14F-4D97-AF65-F5344CB8AC3E}">
        <p14:creationId xmlns:p14="http://schemas.microsoft.com/office/powerpoint/2010/main" val="19057169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022BAB-EADF-4318-B612-FCFAEC7CC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7F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7F72"/>
                </a:solidFill>
                <a:latin typeface="Helvetica Neue"/>
                <a:ea typeface="Helvetica Neue"/>
                <a:cs typeface="Helvetica Neue"/>
              </a:rPr>
              <a:t>FASTFENCE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D24F78-C0DE-496B-AA15-F0E10B4A7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57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3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35E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38F89A-6FA8-46FA-9725-8DF84EF03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1440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102C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4125" b="1">
                <a:solidFill>
                  <a:srgbClr val="102C2A"/>
                </a:solidFill>
                <a:latin typeface="Helvetica Neue"/>
                <a:ea typeface="Helvetica Neue"/>
                <a:cs typeface="Helvetica Neue"/>
              </a:rPr>
              <a:t>Release 1.0.7 verification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28EA0F-9FC9-4DA1-9E3C-30E212BD8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19300"/>
            <a:ext cx="2524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07F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07F72"/>
                </a:solidFill>
                <a:latin typeface="Helvetica Neue"/>
                <a:ea typeface="Helvetica Neue"/>
                <a:cs typeface="Helvetica Neue"/>
              </a:rPr>
              <a:t>1,484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F242E7-075C-4F17-85EE-E52371554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24075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2C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02C2A"/>
                </a:solidFill>
                <a:latin typeface="Helvetica Neue"/>
                <a:ea typeface="Helvetica Neue"/>
                <a:cs typeface="Helvetica Neue"/>
              </a:rPr>
              <a:t>source tests passed, 93.28% coverage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8175F0-2557-4316-B395-B0FEAE148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38450"/>
            <a:ext cx="2524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07F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07F72"/>
                </a:solidFill>
                <a:latin typeface="Helvetica Neue"/>
                <a:ea typeface="Helvetica Neue"/>
                <a:cs typeface="Helvetica Neue"/>
              </a:rPr>
              <a:t>406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07C86C-FF44-40F7-86F7-D9A0C962A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943225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2C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02C2A"/>
                </a:solidFill>
                <a:latin typeface="Helvetica Neue"/>
                <a:ea typeface="Helvetica Neue"/>
                <a:cs typeface="Helvetica Neue"/>
              </a:rPr>
              <a:t>installed-package security and transport checks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043D3F-58ED-454F-9F03-E5D172BB5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57600"/>
            <a:ext cx="2524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07F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07F72"/>
                </a:solidFill>
                <a:latin typeface="Helvetica Neue"/>
                <a:ea typeface="Helvetica Neue"/>
                <a:cs typeface="Helvetica Neue"/>
              </a:rPr>
              <a:t>12 /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44B1CC-33B8-466D-B41B-ADADAFAD0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762375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2C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02C2A"/>
                </a:solidFill>
                <a:latin typeface="Helvetica Neue"/>
                <a:ea typeface="Helvetica Neue"/>
                <a:cs typeface="Helvetica Neue"/>
              </a:rPr>
              <a:t>real requests with 24 Laya assessments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8B76A7-86FB-44F1-93DE-46FC2FB3D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76750"/>
            <a:ext cx="2524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07F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07F72"/>
                </a:solidFill>
                <a:latin typeface="Helvetica Neue"/>
                <a:ea typeface="Helvetica Neue"/>
                <a:cs typeface="Helvetica Neue"/>
              </a:rPr>
              <a:t>1,000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BDB8E3-45E5-4827-8E53-C24B36D4C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581525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2C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02C2A"/>
                </a:solidFill>
                <a:latin typeface="Helvetica Neue"/>
                <a:ea typeface="Helvetica Neue"/>
                <a:cs typeface="Helvetica Neue"/>
              </a:rPr>
              <a:t>controlled requests: 8 active, 992 waiting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A33A62-2F38-4262-B3B4-2136889A7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57825"/>
            <a:ext cx="1095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3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2635E"/>
                </a:solidFill>
                <a:latin typeface="Helvetica Neue"/>
                <a:ea typeface="Helvetica Neue"/>
                <a:cs typeface="Helvetica Neue"/>
              </a:rPr>
              <a:t>FastFence 1.0.7. These counts measure control and integration tests.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E2CCB2-B694-4594-AFF5-235BE14FC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1980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3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2635E"/>
                </a:solidFill>
                <a:latin typeface="Helvetica Neue"/>
                <a:ea typeface="Helvetica Neue"/>
                <a:cs typeface="Helvetica Neue"/>
              </a:rPr>
              <a:t>Semantic judgments can be wrong. Reviewed examples cover those examples.</a:t>
            </a:r>
          </a:p>
          <a:p xmlns:a="http://schemas.openxmlformats.org/drawingml/2006/main">
            <a:pPr>
              <a:defRPr sz="1650" b="0">
                <a:solidFill>
                  <a:srgbClr val="5263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2635E"/>
                </a:solidFill>
                <a:latin typeface="Helvetica Neue"/>
                <a:ea typeface="Helvetica Neue"/>
                <a:cs typeface="Helvetica Neue"/>
              </a:rPr>
              <a:t>Budget counters and retained audit belong to one process.</a:t>
            </a:r>
          </a:p>
        </p:txBody>
      </p:sp>
    </p:spTree>
    <p:extLst>
      <p:ext uri="{BB962C8B-B14F-4D97-AF65-F5344CB8AC3E}">
        <p14:creationId xmlns:p14="http://schemas.microsoft.com/office/powerpoint/2010/main" val="17766894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2026-10-04T07:25:52.7780000Z</dcterms:created>
  <dcterms:modified xsi:type="dcterms:W3CDTF">2026-10-04T07:25:52.7780000Z</dcterms:modified>
</coreProperties>
</file>