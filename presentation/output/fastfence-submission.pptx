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0150390b594ff7" /><Relationship Type="http://schemas.openxmlformats.org/officeDocument/2006/relationships/extended-properties" Target="/docProps/app.xml" Id="Re2a77906b38c410e" /><Relationship Type="http://schemas.openxmlformats.org/officeDocument/2006/relationships/officeDocument" Target="/ppt/presentation.xml" Id="Radd5f1afde924d22" /></Relationships>
</file>

<file path=ppt/presentation.xml><?xml version="1.0" encoding="utf-8"?>
<p:presentation xmlns:p="http://schemas.openxmlformats.org/presentationml/2006/main">
  <p:sldMasterIdLst>
    <p:sldMasterId xmlns:r="http://schemas.openxmlformats.org/officeDocument/2006/relationships" id="2147483648" r:id="R088db2761fba482e"/>
  </p:sldMasterIdLst>
  <p:notesMasterIdLst>
    <p:notesMasterId xmlns:r="http://schemas.openxmlformats.org/officeDocument/2006/relationships" r:id="Rde03d34318134e62"/>
  </p:notesMasterIdLst>
  <p:sldIdLst>
    <p:sldId xmlns:r="http://schemas.openxmlformats.org/officeDocument/2006/relationships" id="256" r:id="R0e4fee1e1c9e4105"/>
    <p:sldId xmlns:r="http://schemas.openxmlformats.org/officeDocument/2006/relationships" id="257" r:id="Rcf457324a91143dc"/>
    <p:sldId xmlns:r="http://schemas.openxmlformats.org/officeDocument/2006/relationships" id="258" r:id="Rd92ccb2dc3b3459c"/>
    <p:sldId xmlns:r="http://schemas.openxmlformats.org/officeDocument/2006/relationships" id="259" r:id="R8bd1c5b5f5fc4718"/>
    <p:sldId xmlns:r="http://schemas.openxmlformats.org/officeDocument/2006/relationships" id="260" r:id="R2eb6575302fb465b"/>
    <p:sldId xmlns:r="http://schemas.openxmlformats.org/officeDocument/2006/relationships" id="261" r:id="R35f5e9f6215945e6"/>
    <p:sldId xmlns:r="http://schemas.openxmlformats.org/officeDocument/2006/relationships" id="262" r:id="R9a7b31db85194ed6"/>
    <p:sldId xmlns:r="http://schemas.openxmlformats.org/officeDocument/2006/relationships" id="263" r:id="R9f0f6317afab42a7"/>
    <p:sldId xmlns:r="http://schemas.openxmlformats.org/officeDocument/2006/relationships" id="264" r:id="R357c3995506e45e6"/>
    <p:sldId xmlns:r="http://schemas.openxmlformats.org/officeDocument/2006/relationships" id="265" r:id="R638a333d75d747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4c18d596da4859" /><Relationship Type="http://schemas.openxmlformats.org/officeDocument/2006/relationships/slideMaster" Target="/ppt/slideMasters/slideMaster1.xml" Id="R088db2761fba482e" /><Relationship Type="http://schemas.openxmlformats.org/officeDocument/2006/relationships/notesMaster" Target="/ppt/notesMasters/notesMaster1.xml" Id="Rde03d34318134e62" /><Relationship Type="http://schemas.openxmlformats.org/officeDocument/2006/relationships/presProps" Target="/ppt/presProps.xml" Id="Rd01e7d99c3d34460" /><Relationship Type="http://schemas.openxmlformats.org/officeDocument/2006/relationships/tableStyles" Target="/ppt/tableStyles.xml" Id="Rbf814b075861423d" /><Relationship Type="http://schemas.openxmlformats.org/officeDocument/2006/relationships/slide" Target="/ppt/slides/slide1.xml" Id="R0e4fee1e1c9e4105" /><Relationship Type="http://schemas.openxmlformats.org/officeDocument/2006/relationships/slide" Target="/ppt/slides/slide2.xml" Id="Rcf457324a91143dc" /><Relationship Type="http://schemas.openxmlformats.org/officeDocument/2006/relationships/slide" Target="/ppt/slides/slide3.xml" Id="Rd92ccb2dc3b3459c" /><Relationship Type="http://schemas.openxmlformats.org/officeDocument/2006/relationships/slide" Target="/ppt/slides/slide4.xml" Id="R8bd1c5b5f5fc4718" /><Relationship Type="http://schemas.openxmlformats.org/officeDocument/2006/relationships/slide" Target="/ppt/slides/slide5.xml" Id="R2eb6575302fb465b" /><Relationship Type="http://schemas.openxmlformats.org/officeDocument/2006/relationships/slide" Target="/ppt/slides/slide6.xml" Id="R35f5e9f6215945e6" /><Relationship Type="http://schemas.openxmlformats.org/officeDocument/2006/relationships/slide" Target="/ppt/slides/slide7.xml" Id="R9a7b31db85194ed6" /><Relationship Type="http://schemas.openxmlformats.org/officeDocument/2006/relationships/slide" Target="/ppt/slides/slide8.xml" Id="R9f0f6317afab42a7" /><Relationship Type="http://schemas.openxmlformats.org/officeDocument/2006/relationships/slide" Target="/ppt/slides/slide9.xml" Id="R357c3995506e45e6" /><Relationship Type="http://schemas.openxmlformats.org/officeDocument/2006/relationships/slide" Target="/ppt/slides/slide10.xml" Id="R638a333d75d747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194d9640fc42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21bd21296a45bf" /><Relationship Type="http://schemas.openxmlformats.org/officeDocument/2006/relationships/notesMaster" Target="/ppt/notesMasters/notesMaster1.xml" Id="R861685a6adcd46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9e6e04cf424d85" /><Relationship Type="http://schemas.openxmlformats.org/officeDocument/2006/relationships/notesMaster" Target="/ppt/notesMasters/notesMaster1.xml" Id="Rb90d4a1087ba47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8db05b5db541c0" /><Relationship Type="http://schemas.openxmlformats.org/officeDocument/2006/relationships/notesMaster" Target="/ppt/notesMasters/notesMaster1.xml" Id="R15a7cd497c5f40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ceb1a3f9874785" /><Relationship Type="http://schemas.openxmlformats.org/officeDocument/2006/relationships/notesMaster" Target="/ppt/notesMasters/notesMaster1.xml" Id="R3d29f69f968a43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65e86f46d64463" /><Relationship Type="http://schemas.openxmlformats.org/officeDocument/2006/relationships/notesMaster" Target="/ppt/notesMasters/notesMaster1.xml" Id="R65d46f0f949a43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aded22ecf84327" /><Relationship Type="http://schemas.openxmlformats.org/officeDocument/2006/relationships/notesMaster" Target="/ppt/notesMasters/notesMaster1.xml" Id="Rfc92d7bbb37642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22fddb1234417e" /><Relationship Type="http://schemas.openxmlformats.org/officeDocument/2006/relationships/notesMaster" Target="/ppt/notesMasters/notesMaster1.xml" Id="R913ffc3e584446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8ecb012c2f4adb" /><Relationship Type="http://schemas.openxmlformats.org/officeDocument/2006/relationships/notesMaster" Target="/ppt/notesMasters/notesMaster1.xml" Id="Rbe97a5e6541749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df58e0c579420f" /><Relationship Type="http://schemas.openxmlformats.org/officeDocument/2006/relationships/notesMaster" Target="/ppt/notesMasters/notesMaster1.xml" Id="Rc1cb15a7faad4a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3fe2b963ab4504" /><Relationship Type="http://schemas.openxmlformats.org/officeDocument/2006/relationships/notesMaster" Target="/ppt/notesMasters/notesMaster1.xml" Id="Rabbdebc4f7b34c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0:00–0:18. FastFence pozwala zmieniać zasady ochrony bez przebudowy agenta. Chronimy dane i operacje na granicy wywołania. Pokażemy działającą paczkę: integrację SDK, MCP, ACP, reguły Laya i dokumenty.</a:t>
            </a:r>
          </a:p>
          <a:p xmlns:a="http://schemas.openxmlformats.org/drawingml/2006/main">
            <a:r>
              <a:t>Sources: README.md; presentation/output/demo-evidence.json; protocol evidence JSON files.</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0:18–0:38. Jeden silnik obsługuje REST, SDK OpenAI, MCP i komunikację agentów ACP. Diagram jest edytowalny. Lokalnie sprawdzamy dostęp, detektory danych i sekretów, sygnatury zagrożeń oraz budżety. Laya ocenia znaczenie treści zgodnie z polityką. Kontrolujemy wejście oraz wyjście. Prawdziwa integracja SDK potwierdziła zmianę decyzji przez ten sam endpoint.</a:t>
            </a:r>
          </a:p>
          <a:p xmlns:a="http://schemas.openxmlformats.org/drawingml/2006/main">
            <a:r>
              <a:t>Sources: src/fastfence/app/factory.py; presentation/output/integration-demo-evidence.json; docs/integration-reference.md. ACP means Agent Communication Protocol, synchronous text-only compatibility.</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0:38–0:56. W nagraniu ten sam tekst Hello przechodzi przy polityce v4. Po zmianie lokalnej reguły v5 zatrzymuje go przed modelem. Nie restartujemy bramki. Audyt łączy decyzję z powodem, wersją i faktem wykonania upstream. To pojedyncze obserwacje, nie benchmark.</a:t>
            </a:r>
          </a:p>
          <a:p xmlns:a="http://schemas.openxmlformats.org/drawingml/2006/main">
            <a:r>
              <a:t>Sources: presentation/output/demo-evidence.json; actual demo-allowed.png/demo-blocked.png screenshots.</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0:56–1:17. Regułę semantyczną opisujemy zwykłym językiem i dodajemy oczekiwane przykłady. Laya porównuje aktywną oraz proponowaną politykę. Operator widzi wyniki i diff przed aktywacją. Zapisane przypadki stają się regresjami. Osiem przypadków przeszło prawdziwy przegląd. Nie twierdzimy, że przykład finansowy zaczął być blokowany dopiero po zmianie: bazowa ochrona już go blokowała. Natural-language assessment is not arbitrary Python or regex generation.</a:t>
            </a:r>
          </a:p>
          <a:p xmlns:a="http://schemas.openxmlformats.org/drawingml/2006/main">
            <a:r>
              <a:t>Sources: presentation/output/demo-evidence.json; semantic review source and specs136/138.</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1:17–1:33. To rzeczywisty klient FastMCP po HTTP, nie zapytanie REST podpisane nazwą MCP. Wywołujemy prywatne narzędzie zamiany tekstu na wielkie litery przez FastFence. Po aktywacji reguły to samo wywołanie zostaje zablokowane. Licznik wykonania narzędzia pozostaje równy jeden. Ten pokaz nie wymaga modelu.</a:t>
            </a:r>
          </a:p>
          <a:p xmlns:a="http://schemas.openxmlformats.org/drawingml/2006/main">
            <a:r>
              <a:t>Source: presentation/output/mcp-demo-evidence.json; presentation/scripts/record_mcp_demo.py; examples/docs/fastmcp_server.py. Client authenticated using BearerAuth; unauthenticated request returned401.</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1:33–1:49. Agent Communication Protocol umożliwia przekazanie zadania innemu agentowi. Tutaj oficjalny klient i lokalny agent ACP działają po obu stronach FastFence. Po zmianie polityki ponowne hello kończy się niepowodzeniem przed wywołaniem agenta. Licznik agenta pozostaje jeden. Obsługujemy bezstanowy synchroniczny tekst. To nie Agent Client Protocol ani A2A.</a:t>
            </a:r>
          </a:p>
          <a:p xmlns:a="http://schemas.openxmlformats.org/drawingml/2006/main">
            <a:r>
              <a:t>Source: presentation/output/acp-demo-evidence.json; presentation/scripts/record_acp_demo.py. Interoperability scope is deliberately bounded.</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1:49–2:09. Maskowanie może być nieodwracalne. Tryb odwracalny używa zaszyfrowanych tokenów zawierających wartość. Klucz publiczny służy do szyfrowania, prywatny do autoryzowanego przywrócenia. Przełącznik kontroluje, czy odpowiedź pozostanie chroniona, czy wróci do oryginału. Model musi zachować kompletny token. Nie potrzeba bazy konwersacji.</a:t>
            </a:r>
          </a:p>
          <a:p xmlns:a="http://schemas.openxmlformats.org/drawingml/2006/main">
            <a:r>
              <a:t>Sources: docs/examples/asymmetric-anonymization.md; cryptographic envelope tests; presentation/output/anonymization-demo-evidence.json. Actual public1.0.7 HTTP test with deterministic echo, no LLM. Gateway holds both keys. Upstream receives only the encrypted token; denied restore permission blocks before upstream. Reversible pseudonymization is not irreversible anonymization. Restoration rechecks recovered data and requires matching active policy/key permissions.</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2:09–2:27. Dwustronicowy dokument zawiera dwa syntetyczne adresy e-mail. Lokalny OCR wyciąga tekst, a polityka usuwa oba adresy przed użyciem przez model. Pobieramy dokładnie chroniony Markdown. Qwen naprawdę odpowiada i przechodzi obie kontrole Laya. Pokazujemy redakcję tekstu, nie edycję pikseli PDF.</a:t>
            </a:r>
          </a:p>
          <a:p xmlns:a="http://schemas.openxmlformats.org/drawingml/2006/main">
            <a:r>
              <a:t>Sources: presentation/output/ocr-demo-evidence.json; presentation/output/demo-document-approved.md; src/fastfence/workflows/document_markdown.py. No provider packet capture was performed; code path forwards prepared Markdown.</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2:27–2:45. Tu wyraźnie oddzielamy zakresy dowodów. Historyczny pomiar paczki 1.0.2 obejmuje sam silnik bez HTTP i generowania modelu biznesowego. Próbki semantyczne są małe i rozgrzane. Aktualna wersja 1.0.7 ma 1484 testy źródłowe, 406 kontroli zainstalowanej paczki i osobny test 12 prawdziwych żądań. Liczb nie sumujemy i nie utożsamiamy testów z trafnością klasyfikatora.</a:t>
            </a:r>
          </a:p>
          <a:p xmlns:a="http://schemas.openxmlformats.org/drawingml/2006/main">
            <a:r>
              <a:t>Sources: evaluation/results/installed-package-1.0.2-comparison.json; installed-package-1.0.2-semantic.json; request-queue-1.0.7.json; presentation/evidence.md. Native table is editable.</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2:45–3:10. Poprawne zasady wchodzą bez restartu, a błędne konfiguracje pozostawiają ostatni poprawny stan. Inicjalizacja jest idempotentna: zachowuje polityki, klucze i dane dostępowe. To nie deduplikacja operacji biznesowych. Kolejka ma limity liczby, bajtów, tożsamości i czasu. Sprawdziliśmy 1000 żądań z kontrolowanym backendem oraz 12 prawdziwych żądań modeli. Budżety i audyt są lokalne dla procesu, restart je zeruje. Kod i dokumentacja są publiczne, instalacja wymaga uv, zgodnego Pythona i działającej Ollamy.</a:t>
            </a:r>
          </a:p>
          <a:p xmlns:a="http://schemas.openxmlformats.org/drawingml/2006/main">
            <a:r>
              <a:t>Sources: tests/unit/test_runtime_bootstrap.py; tests/unit/test_config_providers.py; evaluation/results/request-queue-1.0.7.json; README.md. No business operation idempotency key or exactly-once guarantee.</a:t>
            </a:r>
          </a:p>
          <a:p xmlns:a="http://schemas.openxmlformats.org/drawingml/2006/main">
            <a:r>
              <a:t>Organizer criteria: Solution 30% (slides1,4,7,8); Architecture 20% (slides2,10); Reporting 20% (slide3 and recorded Activity); Testing 15% (slide9 plus policy/protocol examples); Implementation 15% (slides5,6 and installation on slide10). These are organizer weights, not self-assigned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e553976ef84f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acbe3fb7e54cda" /><Relationship Type="http://schemas.openxmlformats.org/officeDocument/2006/relationships/slideLayout" Target="/ppt/slideLayouts/slideLayout1.xml" Id="R6f7c315501d84d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7c315501d84d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78c875cd4e4aba" /><Relationship Type="http://schemas.openxmlformats.org/officeDocument/2006/relationships/image" Target="/ppt/media/image.png" Id="R1081ae68918c45bb" /><Relationship Type="http://schemas.openxmlformats.org/officeDocument/2006/relationships/notesSlide" Target="/ppt/notesSlides/notesSlide1.xml" Id="R7aeecec261a54c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4549e2148d4d7c" /><Relationship Type="http://schemas.openxmlformats.org/officeDocument/2006/relationships/notesSlide" Target="/ppt/notesSlides/notesSlide2.xml" Id="Ra8a8d55530124d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ec97725f14b96" /><Relationship Type="http://schemas.openxmlformats.org/officeDocument/2006/relationships/image" Target="/ppt/media/image2.png" Id="Rb25f12ab6e5e4626" /><Relationship Type="http://schemas.openxmlformats.org/officeDocument/2006/relationships/image" Target="/ppt/media/image3.png" Id="R4b1edb3c31f547f7" /><Relationship Type="http://schemas.openxmlformats.org/officeDocument/2006/relationships/notesSlide" Target="/ppt/notesSlides/notesSlide3.xml" Id="R1d63fdf820dc46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d5e7c7e41e4962" /><Relationship Type="http://schemas.openxmlformats.org/officeDocument/2006/relationships/image" Target="/ppt/media/image4.png" Id="R2bac00e19ce14ada" /><Relationship Type="http://schemas.openxmlformats.org/officeDocument/2006/relationships/notesSlide" Target="/ppt/notesSlides/notesSlide4.xml" Id="Rcad3c63f4f5140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20fa303f324b50" /><Relationship Type="http://schemas.openxmlformats.org/officeDocument/2006/relationships/notesSlide" Target="/ppt/notesSlides/notesSlide5.xml" Id="Ra0c379baa19c4d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c1100138dd4d7d" /><Relationship Type="http://schemas.openxmlformats.org/officeDocument/2006/relationships/notesSlide" Target="/ppt/notesSlides/notesSlide6.xml" Id="R2811f28efeae44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a3b48c7a0e40e4" /><Relationship Type="http://schemas.openxmlformats.org/officeDocument/2006/relationships/notesSlide" Target="/ppt/notesSlides/notesSlide7.xml" Id="Re79c71d417b245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96467fd3a04a5e" /><Relationship Type="http://schemas.openxmlformats.org/officeDocument/2006/relationships/image" Target="/ppt/media/image5.png" Id="R76ee4e982ed3413d" /><Relationship Type="http://schemas.openxmlformats.org/officeDocument/2006/relationships/image" Target="/ppt/media/image6.png" Id="R9549729790d84c57" /><Relationship Type="http://schemas.openxmlformats.org/officeDocument/2006/relationships/notesSlide" Target="/ppt/notesSlides/notesSlide8.xml" Id="R98ca59033a3640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ce8f542f6b492f" /><Relationship Type="http://schemas.openxmlformats.org/officeDocument/2006/relationships/notesSlide" Target="/ppt/notesSlides/notesSlide9.xml" Id="Rbd106ae7d9b449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07f80d563a415c" /><Relationship Type="http://schemas.openxmlformats.org/officeDocument/2006/relationships/notesSlide" Target="/ppt/notesSlides/notesSlide10.xml" Id="Rc8bcf1aee2904420" /></Relationships>
</file>

<file path=ppt/slides/slide1.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42E2E0-D3CF-4CAE-B20A-78C2671D7FF4}"/>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67015577-B0FD-470C-BF80-805754D51DDE}"/>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9A674856-DFAD-48E0-AD17-9BF9C4B8ECD4}"/>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SOLUTION 30%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081ae68918c45bb"/>
          <a:stretch xmlns:a="http://schemas.openxmlformats.org/drawingml/2006/main"/>
        </p:blipFill>
        <p:spPr>
          <a:xfrm xmlns:a="http://schemas.openxmlformats.org/drawingml/2006/main">
            <a:off x="9819238" y="1095375"/>
            <a:ext cx="1697525" cy="1714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F9E952-7269-4D23-B3C6-E1E06B84DDE9}"/>
              </a:ext>
            </a:extLst>
          </p:cNvPr>
          <p:cNvSpPr>
            <a:spLocks xmlns:a="http://schemas.openxmlformats.org/drawingml/2006/main" noGrp="1"/>
          </p:cNvSpPr>
          <p:nvPr/>
        </p:nvSpPr>
        <p:spPr>
          <a:xfrm xmlns:a="http://schemas.openxmlformats.org/drawingml/2006/main">
            <a:off x="571500" y="1219200"/>
            <a:ext cx="857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F6F7F2"/>
                </a:solidFill>
                <a:latin typeface="Helvetica Neue"/>
                <a:ea typeface="Helvetica Neue"/>
                <a:cs typeface="Helvetica Neue"/>
              </a:defRPr>
            </a:pPr>
            <a:r>
              <a:rPr sz="7500" b="1">
                <a:solidFill>
                  <a:srgbClr val="F6F7F2"/>
                </a:solidFill>
                <a:latin typeface="Helvetica Neue"/>
                <a:ea typeface="Helvetica Neue"/>
                <a:cs typeface="Helvetica Neue"/>
              </a:rPr>
              <a:t>FastFence</a:t>
            </a:r>
          </a:p>
        </p:txBody>
      </p:sp>
      <p:sp>
        <p:nvSpPr>
          <p:cNvPr id="6" name="">
            <a:extLst xmlns:a="http://schemas.openxmlformats.org/drawingml/2006/main">
              <a:ext uri="{FF2B5EF4-FFF2-40B4-BE49-F238E27FC236}">
                <a16:creationId xmlns:a16="http://schemas.microsoft.com/office/drawing/2014/main" id="{8F304A99-ED43-4305-ADB1-FEA2B6AB2471}"/>
              </a:ext>
            </a:extLst>
          </p:cNvPr>
          <p:cNvSpPr>
            <a:spLocks xmlns:a="http://schemas.openxmlformats.org/drawingml/2006/main" noGrp="1"/>
          </p:cNvSpPr>
          <p:nvPr/>
        </p:nvSpPr>
        <p:spPr>
          <a:xfrm xmlns:a="http://schemas.openxmlformats.org/drawingml/2006/main">
            <a:off x="600075" y="28003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CCF578"/>
                </a:solidFill>
                <a:latin typeface="Helvetica Neue"/>
                <a:ea typeface="Helvetica Neue"/>
                <a:cs typeface="Helvetica Neue"/>
              </a:defRPr>
            </a:pPr>
            <a:r>
              <a:rPr sz="4500" b="0">
                <a:solidFill>
                  <a:srgbClr val="CCF578"/>
                </a:solidFill>
                <a:latin typeface="Helvetica Neue"/>
                <a:ea typeface="Helvetica Neue"/>
                <a:cs typeface="Helvetica Neue"/>
              </a:rPr>
              <a:t>AI policies that change</a:t>
            </a:r>
          </a:p>
          <a:p xmlns:a="http://schemas.openxmlformats.org/drawingml/2006/main">
            <a:pPr>
              <a:defRPr sz="4500" b="0">
                <a:solidFill>
                  <a:srgbClr val="CCF578"/>
                </a:solidFill>
                <a:latin typeface="Helvetica Neue"/>
                <a:ea typeface="Helvetica Neue"/>
                <a:cs typeface="Helvetica Neue"/>
              </a:defRPr>
            </a:pPr>
            <a:r>
              <a:rPr sz="4500" b="0">
                <a:solidFill>
                  <a:srgbClr val="CCF578"/>
                </a:solidFill>
                <a:latin typeface="Helvetica Neue"/>
                <a:ea typeface="Helvetica Neue"/>
                <a:cs typeface="Helvetica Neue"/>
              </a:rPr>
              <a:t>without changing agent code</a:t>
            </a:r>
          </a:p>
        </p:txBody>
      </p:sp>
      <p:sp>
        <p:nvSpPr>
          <p:cNvPr id="7" name="">
            <a:extLst xmlns:a="http://schemas.openxmlformats.org/drawingml/2006/main">
              <a:ext uri="{FF2B5EF4-FFF2-40B4-BE49-F238E27FC236}">
                <a16:creationId xmlns:a16="http://schemas.microsoft.com/office/drawing/2014/main" id="{30114563-BB2B-4573-80D0-182C70F5C24B}"/>
              </a:ext>
            </a:extLst>
          </p:cNvPr>
          <p:cNvSpPr>
            <a:spLocks xmlns:a="http://schemas.openxmlformats.org/drawingml/2006/main" noGrp="1"/>
          </p:cNvSpPr>
          <p:nvPr/>
        </p:nvSpPr>
        <p:spPr>
          <a:xfrm xmlns:a="http://schemas.openxmlformats.org/drawingml/2006/main">
            <a:off x="600075" y="48958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9CBC7"/>
                </a:solidFill>
                <a:latin typeface="Helvetica Neue"/>
                <a:ea typeface="Helvetica Neue"/>
                <a:cs typeface="Helvetica Neue"/>
              </a:defRPr>
            </a:pPr>
            <a:r>
              <a:rPr sz="2250" b="0">
                <a:solidFill>
                  <a:srgbClr val="B9CBC7"/>
                </a:solidFill>
                <a:latin typeface="Helvetica Neue"/>
                <a:ea typeface="Helvetica Neue"/>
                <a:cs typeface="Helvetica Neue"/>
              </a:rPr>
              <a:t>Protected data and controlled operations at the point of execution.</a:t>
            </a:r>
          </a:p>
        </p:txBody>
      </p:sp>
      <p:sp>
        <p:nvSpPr>
          <p:cNvPr id="8" name="">
            <a:extLst xmlns:a="http://schemas.openxmlformats.org/drawingml/2006/main">
              <a:ext uri="{FF2B5EF4-FFF2-40B4-BE49-F238E27FC236}">
                <a16:creationId xmlns:a16="http://schemas.microsoft.com/office/drawing/2014/main" id="{A1ED7994-ABAB-46DF-AF60-3F406380CCBD}"/>
              </a:ext>
            </a:extLst>
          </p:cNvPr>
          <p:cNvSpPr>
            <a:spLocks xmlns:a="http://schemas.openxmlformats.org/drawingml/2006/main" noGrp="1"/>
          </p:cNvSpPr>
          <p:nvPr/>
        </p:nvSpPr>
        <p:spPr>
          <a:xfrm xmlns:a="http://schemas.openxmlformats.org/drawingml/2006/main">
            <a:off x="600075" y="61531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6F7F2"/>
                </a:solidFill>
                <a:latin typeface="Helvetica Neue"/>
                <a:ea typeface="Helvetica Neue"/>
                <a:cs typeface="Helvetica Neue"/>
              </a:defRPr>
            </a:pPr>
            <a:r>
              <a:rPr sz="1725" b="0">
                <a:solidFill>
                  <a:srgbClr val="F6F7F2"/>
                </a:solidFill>
                <a:latin typeface="Helvetica Neue"/>
                <a:ea typeface="Helvetica Neue"/>
                <a:cs typeface="Helvetica Neue"/>
              </a:rPr>
              <a:t>llama-lovers   /   HackYeah 2026   /   Public release 1.0.7</a:t>
            </a:r>
          </a:p>
        </p:txBody>
      </p:sp>
    </p:spTree>
    <p:extLst>
      <p:ext uri="{BB962C8B-B14F-4D97-AF65-F5344CB8AC3E}">
        <p14:creationId xmlns:p14="http://schemas.microsoft.com/office/powerpoint/2010/main" val="1862247168"/>
      </p:ext>
    </p:extLst>
  </p:cSld>
</p:sld>
</file>

<file path=ppt/slides/slide2.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3B2629-5AB8-4861-AE67-F4EC3A9EF1FE}"/>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DF0341CF-A3FB-4D73-B9CA-0EB31B9966F7}"/>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8AD1E7D-E919-4B87-B0A4-2D5C6C9071FE}"/>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ARCHITECTURE 20%</a:t>
            </a:r>
          </a:p>
        </p:txBody>
      </p:sp>
      <p:sp>
        <p:nvSpPr>
          <p:cNvPr id="4" name="">
            <a:extLst xmlns:a="http://schemas.openxmlformats.org/drawingml/2006/main">
              <a:ext uri="{FF2B5EF4-FFF2-40B4-BE49-F238E27FC236}">
                <a16:creationId xmlns:a16="http://schemas.microsoft.com/office/drawing/2014/main" id="{A1F036C5-00C8-43C3-8FD2-076F391D4BED}"/>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One policy pipeline across existing interfaces</a:t>
            </a:r>
          </a:p>
        </p:txBody>
      </p:sp>
      <p:sp>
        <p:nvSpPr>
          <p:cNvPr id="5" name="">
            <a:extLst xmlns:a="http://schemas.openxmlformats.org/drawingml/2006/main">
              <a:ext uri="{FF2B5EF4-FFF2-40B4-BE49-F238E27FC236}">
                <a16:creationId xmlns:a16="http://schemas.microsoft.com/office/drawing/2014/main" id="{ECAF79FF-A27F-4022-8E7A-917F7FA2DA9D}"/>
              </a:ext>
            </a:extLst>
          </p:cNvPr>
          <p:cNvSpPr>
            <a:spLocks xmlns:a="http://schemas.openxmlformats.org/drawingml/2006/main" noGrp="1"/>
          </p:cNvSpPr>
          <p:nvPr/>
        </p:nvSpPr>
        <p:spPr>
          <a:xfrm xmlns:a="http://schemas.openxmlformats.org/drawingml/2006/main">
            <a:off x="571500" y="2809875"/>
            <a:ext cx="266700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Agents and apps</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REST / OpenAI SDK</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MCP / ACP</a:t>
            </a:r>
          </a:p>
        </p:txBody>
      </p:sp>
      <p:sp>
        <p:nvSpPr>
          <p:cNvPr id="6" name="">
            <a:extLst xmlns:a="http://schemas.openxmlformats.org/drawingml/2006/main">
              <a:ext uri="{FF2B5EF4-FFF2-40B4-BE49-F238E27FC236}">
                <a16:creationId xmlns:a16="http://schemas.microsoft.com/office/drawing/2014/main" id="{FA5D6F7D-A110-444E-9836-977C492BF44B}"/>
              </a:ext>
            </a:extLst>
          </p:cNvPr>
          <p:cNvSpPr>
            <a:spLocks xmlns:a="http://schemas.openxmlformats.org/drawingml/2006/main" noGrp="1"/>
          </p:cNvSpPr>
          <p:nvPr/>
        </p:nvSpPr>
        <p:spPr>
          <a:xfrm xmlns:a="http://schemas.openxmlformats.org/drawingml/2006/main">
            <a:off x="4191000" y="2809875"/>
            <a:ext cx="390525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FastFence</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Input and output controls</a:t>
            </a:r>
          </a:p>
        </p:txBody>
      </p:sp>
      <p:sp>
        <p:nvSpPr>
          <p:cNvPr id="7" name="">
            <a:extLst xmlns:a="http://schemas.openxmlformats.org/drawingml/2006/main">
              <a:ext uri="{FF2B5EF4-FFF2-40B4-BE49-F238E27FC236}">
                <a16:creationId xmlns:a16="http://schemas.microsoft.com/office/drawing/2014/main" id="{3BD36C47-312E-4190-9CD4-D26068CB936C}"/>
              </a:ext>
            </a:extLst>
          </p:cNvPr>
          <p:cNvSpPr>
            <a:spLocks xmlns:a="http://schemas.openxmlformats.org/drawingml/2006/main" noGrp="1"/>
          </p:cNvSpPr>
          <p:nvPr/>
        </p:nvSpPr>
        <p:spPr>
          <a:xfrm xmlns:a="http://schemas.openxmlformats.org/drawingml/2006/main">
            <a:off x="9048750" y="2809875"/>
            <a:ext cx="257175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Models and tools</a:t>
            </a:r>
          </a:p>
        </p:txBody>
      </p:sp>
      <p:sp>
        <p:nvSpPr>
          <p:cNvPr id="8" name="">
            <a:extLst xmlns:a="http://schemas.openxmlformats.org/drawingml/2006/main">
              <a:ext uri="{FF2B5EF4-FFF2-40B4-BE49-F238E27FC236}">
                <a16:creationId xmlns:a16="http://schemas.microsoft.com/office/drawing/2014/main" id="{CEA1175A-970D-4A21-ADC2-27FA09A0899A}"/>
              </a:ext>
            </a:extLst>
          </p:cNvPr>
          <p:cNvSpPr>
            <a:spLocks xmlns:a="http://schemas.openxmlformats.org/drawingml/2006/main" noGrp="1"/>
          </p:cNvSpPr>
          <p:nvPr/>
        </p:nvSpPr>
        <p:spPr>
          <a:xfrm xmlns:a="http://schemas.openxmlformats.org/drawingml/2006/main">
            <a:off x="4191000" y="1857375"/>
            <a:ext cx="3905250" cy="619125"/>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Validated policy + threat feed</a:t>
            </a:r>
          </a:p>
        </p:txBody>
      </p: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3238500" y="3524250"/>
            <a:ext cx="952500" cy="0"/>
          </a:xfrm>
          <a:prstGeom xmlns:a="http://schemas.openxmlformats.org/drawingml/2006/main" prst="straightConnector1">
            <a:avLst/>
          </a:prstGeom>
          <a:ln xmlns:a="http://schemas.openxmlformats.org/drawingml/2006/main" w="19050">
            <a:solidFill>
              <a:srgbClr val="CCF578"/>
            </a:solidFill>
            <a:tailEnd type="triangle" w="med" len="med"/>
          </a:ln>
        </p:spPr>
      </p:cxn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8096250" y="3524250"/>
            <a:ext cx="952500" cy="0"/>
          </a:xfrm>
          <a:prstGeom xmlns:a="http://schemas.openxmlformats.org/drawingml/2006/main" prst="straightConnector1">
            <a:avLst/>
          </a:prstGeom>
          <a:ln xmlns:a="http://schemas.openxmlformats.org/drawingml/2006/main" w="19050">
            <a:solidFill>
              <a:srgbClr val="CCF578"/>
            </a:solidFill>
            <a:tailEnd type="triangle" w="med" len="med"/>
          </a:ln>
        </p:spPr>
      </p:cxnSp>
      <p:cxnSp>
        <p:nvCxnSpPr>
          <p:cNvPr id="25" name=""/>
          <p:cNvCxnSpPr>
            <a:stCxn xmlns:a="http://schemas.openxmlformats.org/drawingml/2006/main" id="8" idx="2"/>
            <a:endCxn xmlns:a="http://schemas.openxmlformats.org/drawingml/2006/main" id="6" idx="0"/>
          </p:cNvCxnSpPr>
          <p:nvPr/>
        </p:nvCxnSpPr>
        <p:spPr>
          <a:xfrm xmlns:a="http://schemas.openxmlformats.org/drawingml/2006/main">
            <a:off x="6143625" y="2476500"/>
            <a:ext cx="0" cy="333375"/>
          </a:xfrm>
          <a:prstGeom xmlns:a="http://schemas.openxmlformats.org/drawingml/2006/main" prst="straightConnector1">
            <a:avLst/>
          </a:prstGeom>
          <a:ln xmlns:a="http://schemas.openxmlformats.org/drawingml/2006/main" w="19050">
            <a:solidFill>
              <a:srgbClr val="CCF578"/>
            </a:solidFill>
            <a:tailEnd type="triangle" w="med" len="med"/>
          </a:ln>
        </p:spPr>
      </p:cxnSp>
      <p:sp>
        <p:nvSpPr>
          <p:cNvPr id="12" name="">
            <a:extLst xmlns:a="http://schemas.openxmlformats.org/drawingml/2006/main">
              <a:ext uri="{FF2B5EF4-FFF2-40B4-BE49-F238E27FC236}">
                <a16:creationId xmlns:a16="http://schemas.microsoft.com/office/drawing/2014/main" id="{8420FAB1-3930-433B-BBD5-BD1B4C243298}"/>
              </a:ext>
            </a:extLst>
          </p:cNvPr>
          <p:cNvSpPr>
            <a:spLocks xmlns:a="http://schemas.openxmlformats.org/drawingml/2006/main" noGrp="1"/>
          </p:cNvSpPr>
          <p:nvPr/>
        </p:nvSpPr>
        <p:spPr>
          <a:xfrm xmlns:a="http://schemas.openxmlformats.org/drawingml/2006/main">
            <a:off x="571500" y="4676775"/>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6F7F2"/>
                </a:solidFill>
                <a:latin typeface="Helvetica Neue"/>
                <a:ea typeface="Helvetica Neue"/>
                <a:cs typeface="Helvetica Neue"/>
              </a:defRPr>
            </a:pPr>
            <a:r>
              <a:rPr sz="2100" b="0">
                <a:solidFill>
                  <a:srgbClr val="F6F7F2"/>
                </a:solidFill>
                <a:latin typeface="Helvetica Neue"/>
                <a:ea typeface="Helvetica Neue"/>
                <a:cs typeface="Helvetica Neue"/>
              </a:rPr>
              <a:t>Local checks: identity, permissions, PII, secrets, signatures and budgets</a:t>
            </a:r>
          </a:p>
        </p:txBody>
      </p:sp>
      <p:sp>
        <p:nvSpPr>
          <p:cNvPr id="13" name="">
            <a:extLst xmlns:a="http://schemas.openxmlformats.org/drawingml/2006/main">
              <a:ext uri="{FF2B5EF4-FFF2-40B4-BE49-F238E27FC236}">
                <a16:creationId xmlns:a16="http://schemas.microsoft.com/office/drawing/2014/main" id="{0A0DA682-CA5B-4AF9-9727-9B436F76A7C1}"/>
              </a:ext>
            </a:extLst>
          </p:cNvPr>
          <p:cNvSpPr>
            <a:spLocks xmlns:a="http://schemas.openxmlformats.org/drawingml/2006/main" noGrp="1"/>
          </p:cNvSpPr>
          <p:nvPr/>
        </p:nvSpPr>
        <p:spPr>
          <a:xfrm xmlns:a="http://schemas.openxmlformats.org/drawingml/2006/main">
            <a:off x="571500" y="53721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CBC7"/>
                </a:solidFill>
                <a:latin typeface="Helvetica Neue"/>
                <a:ea typeface="Helvetica Neue"/>
                <a:cs typeface="Helvetica Neue"/>
              </a:defRPr>
            </a:pPr>
            <a:r>
              <a:rPr sz="2100" b="0">
                <a:solidFill>
                  <a:srgbClr val="B9CBC7"/>
                </a:solidFill>
                <a:latin typeface="Helvetica Neue"/>
                <a:ea typeface="Helvetica Neue"/>
                <a:cs typeface="Helvetica Neue"/>
              </a:rPr>
              <a:t>Laya adds semantic assessment when the policy requires it.</a:t>
            </a:r>
          </a:p>
        </p:txBody>
      </p:sp>
      <p:sp>
        <p:nvSpPr>
          <p:cNvPr id="14" name="">
            <a:extLst xmlns:a="http://schemas.openxmlformats.org/drawingml/2006/main">
              <a:ext uri="{FF2B5EF4-FFF2-40B4-BE49-F238E27FC236}">
                <a16:creationId xmlns:a16="http://schemas.microsoft.com/office/drawing/2014/main" id="{B20451DB-DCA2-483D-938F-B74AE53AA667}"/>
              </a:ext>
            </a:extLst>
          </p:cNvPr>
          <p:cNvSpPr>
            <a:spLocks xmlns:a="http://schemas.openxmlformats.org/drawingml/2006/main" noGrp="1"/>
          </p:cNvSpPr>
          <p:nvPr/>
        </p:nvSpPr>
        <p:spPr>
          <a:xfrm xmlns:a="http://schemas.openxmlformats.org/drawingml/2006/main">
            <a:off x="571500" y="61436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CF578"/>
                </a:solidFill>
                <a:latin typeface="Helvetica Neue"/>
                <a:ea typeface="Helvetica Neue"/>
                <a:cs typeface="Helvetica Neue"/>
              </a:defRPr>
            </a:pPr>
            <a:r>
              <a:rPr sz="1650" b="0">
                <a:solidFill>
                  <a:srgbClr val="CCF578"/>
                </a:solidFill>
                <a:latin typeface="Helvetica Neue"/>
                <a:ea typeface="Helvetica Neue"/>
                <a:cs typeface="Helvetica Neue"/>
              </a:rPr>
              <a:t>OpenAI SDK: configure base_url="http://localhost:8000/v1" and an agent token</a:t>
            </a:r>
          </a:p>
        </p:txBody>
      </p:sp>
    </p:spTree>
    <p:extLst>
      <p:ext uri="{BB962C8B-B14F-4D97-AF65-F5344CB8AC3E}">
        <p14:creationId xmlns:p14="http://schemas.microsoft.com/office/powerpoint/2010/main" val="1431249324"/>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5ADA94-C472-4E41-AE78-33D26FBA90F8}"/>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426F9738-8520-4B0F-9F4E-59A553B740C2}"/>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F4C0533B-400D-47E7-84AB-4B3C1017A18A}"/>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REPORTING 20%</a:t>
            </a:r>
          </a:p>
        </p:txBody>
      </p:sp>
      <p:sp>
        <p:nvSpPr>
          <p:cNvPr id="4" name="">
            <a:extLst xmlns:a="http://schemas.openxmlformats.org/drawingml/2006/main">
              <a:ext uri="{FF2B5EF4-FFF2-40B4-BE49-F238E27FC236}">
                <a16:creationId xmlns:a16="http://schemas.microsoft.com/office/drawing/2014/main" id="{A3858C71-4149-45F8-BA54-0549DA3B03EF}"/>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A rule change affects the next request</a:t>
            </a:r>
          </a:p>
        </p:txBody>
      </p:sp>
      <p:sp>
        <p:nvSpPr>
          <p:cNvPr id="5" name="">
            <a:extLst xmlns:a="http://schemas.openxmlformats.org/drawingml/2006/main">
              <a:ext uri="{FF2B5EF4-FFF2-40B4-BE49-F238E27FC236}">
                <a16:creationId xmlns:a16="http://schemas.microsoft.com/office/drawing/2014/main" id="{14588080-335D-402D-9EC1-7D159DC674DC}"/>
              </a:ext>
            </a:extLst>
          </p:cNvPr>
          <p:cNvSpPr>
            <a:spLocks xmlns:a="http://schemas.openxmlformats.org/drawingml/2006/main" noGrp="1"/>
          </p:cNvSpPr>
          <p:nvPr/>
        </p:nvSpPr>
        <p:spPr>
          <a:xfrm xmlns:a="http://schemas.openxmlformats.org/drawingml/2006/main">
            <a:off x="571500" y="20002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02C2A"/>
                </a:solidFill>
                <a:latin typeface="Helvetica Neue"/>
                <a:ea typeface="Helvetica Neue"/>
                <a:cs typeface="Helvetica Neue"/>
              </a:defRPr>
            </a:pPr>
            <a:r>
              <a:rPr sz="2700" b="1">
                <a:solidFill>
                  <a:srgbClr val="102C2A"/>
                </a:solidFill>
                <a:latin typeface="Helvetica Neue"/>
                <a:ea typeface="Helvetica Neue"/>
                <a:cs typeface="Helvetica Neue"/>
              </a:rPr>
              <a:t>Same “Hello”. Same running gateway.</a:t>
            </a:r>
          </a:p>
        </p:txBody>
      </p:sp>
      <p:sp>
        <p:nvSpPr>
          <p:cNvPr id="6" name="">
            <a:extLst xmlns:a="http://schemas.openxmlformats.org/drawingml/2006/main">
              <a:ext uri="{FF2B5EF4-FFF2-40B4-BE49-F238E27FC236}">
                <a16:creationId xmlns:a16="http://schemas.microsoft.com/office/drawing/2014/main" id="{A0D1D2A9-CA19-476D-9AD5-5E8ABC621A92}"/>
              </a:ext>
            </a:extLst>
          </p:cNvPr>
          <p:cNvSpPr>
            <a:spLocks xmlns:a="http://schemas.openxmlformats.org/drawingml/2006/main" noGrp="1"/>
          </p:cNvSpPr>
          <p:nvPr/>
        </p:nvSpPr>
        <p:spPr>
          <a:xfrm xmlns:a="http://schemas.openxmlformats.org/drawingml/2006/main">
            <a:off x="571500" y="29051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07F72"/>
                </a:solidFill>
                <a:latin typeface="Helvetica Neue"/>
                <a:ea typeface="Helvetica Neue"/>
                <a:cs typeface="Helvetica Neue"/>
              </a:defRPr>
            </a:pPr>
            <a:r>
              <a:rPr sz="3075" b="1">
                <a:solidFill>
                  <a:srgbClr val="007F72"/>
                </a:solidFill>
                <a:latin typeface="Helvetica Neue"/>
                <a:ea typeface="Helvetica Neue"/>
                <a:cs typeface="Helvetica Neue"/>
              </a:rPr>
              <a:t>v4  ALLOW</a:t>
            </a:r>
          </a:p>
        </p:txBody>
      </p:sp>
      <p:sp>
        <p:nvSpPr>
          <p:cNvPr id="7" name="">
            <a:extLst xmlns:a="http://schemas.openxmlformats.org/drawingml/2006/main">
              <a:ext uri="{FF2B5EF4-FFF2-40B4-BE49-F238E27FC236}">
                <a16:creationId xmlns:a16="http://schemas.microsoft.com/office/drawing/2014/main" id="{8DD87A8E-C841-414C-BAAD-F6E4F1DB98DF}"/>
              </a:ext>
            </a:extLst>
          </p:cNvPr>
          <p:cNvSpPr>
            <a:spLocks xmlns:a="http://schemas.openxmlformats.org/drawingml/2006/main" noGrp="1"/>
          </p:cNvSpPr>
          <p:nvPr/>
        </p:nvSpPr>
        <p:spPr>
          <a:xfrm xmlns:a="http://schemas.openxmlformats.org/drawingml/2006/main">
            <a:off x="6429375" y="2905125"/>
            <a:ext cx="5191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C53642"/>
                </a:solidFill>
                <a:latin typeface="Helvetica Neue"/>
                <a:ea typeface="Helvetica Neue"/>
                <a:cs typeface="Helvetica Neue"/>
              </a:defRPr>
            </a:pPr>
            <a:r>
              <a:rPr sz="3075" b="1">
                <a:solidFill>
                  <a:srgbClr val="C53642"/>
                </a:solidFill>
                <a:latin typeface="Helvetica Neue"/>
                <a:ea typeface="Helvetica Neue"/>
                <a:cs typeface="Helvetica Neue"/>
              </a:rPr>
              <a:t>v5  BLOCK</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25f12ab6e5e4626"/>
          <a:stretch xmlns:a="http://schemas.openxmlformats.org/drawingml/2006/main"/>
        </p:blipFill>
        <p:spPr>
          <a:xfrm xmlns:a="http://schemas.openxmlformats.org/drawingml/2006/main">
            <a:off x="571500" y="3610372"/>
            <a:ext cx="5238750" cy="2418556"/>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b1edb3c31f547f7"/>
          <a:stretch xmlns:a="http://schemas.openxmlformats.org/drawingml/2006/main"/>
        </p:blipFill>
        <p:spPr>
          <a:xfrm xmlns:a="http://schemas.openxmlformats.org/drawingml/2006/main">
            <a:off x="6429375" y="3610173"/>
            <a:ext cx="5191125" cy="255230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D750515-DB03-4C1C-894B-0B4E73019D73}"/>
              </a:ext>
            </a:extLst>
          </p:cNvPr>
          <p:cNvSpPr>
            <a:spLocks xmlns:a="http://schemas.openxmlformats.org/drawingml/2006/main" noGrp="1"/>
          </p:cNvSpPr>
          <p:nvPr/>
        </p:nvSpPr>
        <p:spPr>
          <a:xfrm xmlns:a="http://schemas.openxmlformats.org/drawingml/2006/main">
            <a:off x="571500" y="6305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Policy version and execution boundary remain visible in the audit.</a:t>
            </a:r>
          </a:p>
        </p:txBody>
      </p:sp>
    </p:spTree>
    <p:extLst>
      <p:ext uri="{BB962C8B-B14F-4D97-AF65-F5344CB8AC3E}">
        <p14:creationId xmlns:p14="http://schemas.microsoft.com/office/powerpoint/2010/main" val="1201764087"/>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357854-9015-46BA-8904-4BC15E926267}"/>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D96B6C7A-0FAE-4D94-917F-13D2FF509BDC}"/>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3615695-D26C-4844-833B-7691EA2202EB}"/>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SOLUTION 30%</a:t>
            </a:r>
          </a:p>
        </p:txBody>
      </p:sp>
      <p:sp>
        <p:nvSpPr>
          <p:cNvPr id="4" name="">
            <a:extLst xmlns:a="http://schemas.openxmlformats.org/drawingml/2006/main">
              <a:ext uri="{FF2B5EF4-FFF2-40B4-BE49-F238E27FC236}">
                <a16:creationId xmlns:a16="http://schemas.microsoft.com/office/drawing/2014/main" id="{33D7BC3B-9D14-4788-B8B5-D184D265FBDA}"/>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Natural-language rules with reviewed examples</a:t>
            </a:r>
          </a:p>
        </p:txBody>
      </p:sp>
      <p:sp>
        <p:nvSpPr>
          <p:cNvPr id="5" name="">
            <a:extLst xmlns:a="http://schemas.openxmlformats.org/drawingml/2006/main">
              <a:ext uri="{FF2B5EF4-FFF2-40B4-BE49-F238E27FC236}">
                <a16:creationId xmlns:a16="http://schemas.microsoft.com/office/drawing/2014/main" id="{DFAA6E53-BC33-4117-AA1B-B1FA9629DE22}"/>
              </a:ext>
            </a:extLst>
          </p:cNvPr>
          <p:cNvSpPr>
            <a:spLocks xmlns:a="http://schemas.openxmlformats.org/drawingml/2006/main" noGrp="1"/>
          </p:cNvSpPr>
          <p:nvPr/>
        </p:nvSpPr>
        <p:spPr>
          <a:xfrm xmlns:a="http://schemas.openxmlformats.org/drawingml/2006/main">
            <a:off x="571500" y="2286000"/>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F72"/>
                </a:solidFill>
                <a:latin typeface="Helvetica Neue"/>
                <a:ea typeface="Helvetica Neue"/>
                <a:cs typeface="Helvetica Neue"/>
              </a:defRPr>
            </a:pPr>
            <a:r>
              <a:rPr sz="2775" b="1">
                <a:solidFill>
                  <a:srgbClr val="007F72"/>
                </a:solidFill>
                <a:latin typeface="Helvetica Neue"/>
                <a:ea typeface="Helvetica Neue"/>
                <a:cs typeface="Helvetica Neue"/>
              </a:rPr>
              <a:t>“Block personalized</a:t>
            </a:r>
          </a:p>
          <a:p xmlns:a="http://schemas.openxmlformats.org/drawingml/2006/main">
            <a:pPr>
              <a:defRPr sz="2775" b="1">
                <a:solidFill>
                  <a:srgbClr val="007F72"/>
                </a:solidFill>
                <a:latin typeface="Helvetica Neue"/>
                <a:ea typeface="Helvetica Neue"/>
                <a:cs typeface="Helvetica Neue"/>
              </a:defRPr>
            </a:pPr>
            <a:r>
              <a:rPr sz="2775" b="1">
                <a:solidFill>
                  <a:srgbClr val="007F72"/>
                </a:solidFill>
                <a:latin typeface="Helvetica Neue"/>
                <a:ea typeface="Helvetica Neue"/>
                <a:cs typeface="Helvetica Neue"/>
              </a:rPr>
              <a:t>financial recommendations.”</a:t>
            </a:r>
          </a:p>
        </p:txBody>
      </p:sp>
      <p:sp>
        <p:nvSpPr>
          <p:cNvPr id="6" name="">
            <a:extLst xmlns:a="http://schemas.openxmlformats.org/drawingml/2006/main">
              <a:ext uri="{FF2B5EF4-FFF2-40B4-BE49-F238E27FC236}">
                <a16:creationId xmlns:a16="http://schemas.microsoft.com/office/drawing/2014/main" id="{84D7546A-E180-4BD7-BF4F-09632781350F}"/>
              </a:ext>
            </a:extLst>
          </p:cNvPr>
          <p:cNvSpPr>
            <a:spLocks xmlns:a="http://schemas.openxmlformats.org/drawingml/2006/main" noGrp="1"/>
          </p:cNvSpPr>
          <p:nvPr/>
        </p:nvSpPr>
        <p:spPr>
          <a:xfrm xmlns:a="http://schemas.openxmlformats.org/drawingml/2006/main">
            <a:off x="571500" y="39719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Define allowed and blocked examples.</a:t>
            </a:r>
          </a:p>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Compare active and proposed behavior.</a:t>
            </a:r>
          </a:p>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Review the diff before activation.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bac00e19ce14ada"/>
          <a:stretch xmlns:a="http://schemas.openxmlformats.org/drawingml/2006/main"/>
        </p:blipFill>
        <p:spPr>
          <a:xfrm xmlns:a="http://schemas.openxmlformats.org/drawingml/2006/main">
            <a:off x="6191250" y="1954934"/>
            <a:ext cx="5334000" cy="445308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0B0A62C-D707-470F-9E61-2073EEE4CF2A}"/>
              </a:ext>
            </a:extLst>
          </p:cNvPr>
          <p:cNvSpPr>
            <a:spLocks xmlns:a="http://schemas.openxmlformats.org/drawingml/2006/main" noGrp="1"/>
          </p:cNvSpPr>
          <p:nvPr/>
        </p:nvSpPr>
        <p:spPr>
          <a:xfrm xmlns:a="http://schemas.openxmlformats.org/drawingml/2006/main">
            <a:off x="571500" y="576262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2"/>
                </a:solidFill>
                <a:latin typeface="Helvetica Neue"/>
                <a:ea typeface="Helvetica Neue"/>
                <a:cs typeface="Helvetica Neue"/>
              </a:defRPr>
            </a:pPr>
            <a:r>
              <a:rPr sz="2250" b="1">
                <a:solidFill>
                  <a:srgbClr val="007F72"/>
                </a:solidFill>
                <a:latin typeface="Helvetica Neue"/>
                <a:ea typeface="Helvetica Neue"/>
                <a:cs typeface="Helvetica Neue"/>
              </a:rPr>
              <a:t>8/8 scoped cases passed and saved</a:t>
            </a:r>
          </a:p>
        </p:txBody>
      </p:sp>
      <p:sp>
        <p:nvSpPr>
          <p:cNvPr id="9" name="">
            <a:extLst xmlns:a="http://schemas.openxmlformats.org/drawingml/2006/main">
              <a:ext uri="{FF2B5EF4-FFF2-40B4-BE49-F238E27FC236}">
                <a16:creationId xmlns:a16="http://schemas.microsoft.com/office/drawing/2014/main" id="{B9F923FE-C0B5-49B0-AA6C-2FF7B20CDE86}"/>
              </a:ext>
            </a:extLst>
          </p:cNvPr>
          <p:cNvSpPr>
            <a:spLocks xmlns:a="http://schemas.openxmlformats.org/drawingml/2006/main" noGrp="1"/>
          </p:cNvSpPr>
          <p:nvPr/>
        </p:nvSpPr>
        <p:spPr>
          <a:xfrm xmlns:a="http://schemas.openxmlformats.org/drawingml/2006/main">
            <a:off x="571500" y="6381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35E"/>
                </a:solidFill>
                <a:latin typeface="Helvetica Neue"/>
                <a:ea typeface="Helvetica Neue"/>
                <a:cs typeface="Helvetica Neue"/>
              </a:defRPr>
            </a:pPr>
            <a:r>
              <a:rPr sz="1500" b="0">
                <a:solidFill>
                  <a:srgbClr val="52635E"/>
                </a:solidFill>
                <a:latin typeface="Helvetica Neue"/>
                <a:ea typeface="Helvetica Neue"/>
                <a:cs typeface="Helvetica Neue"/>
              </a:rPr>
              <a:t>Passing samples establish those cases, not universal semantic accuracy.</a:t>
            </a:r>
          </a:p>
        </p:txBody>
      </p:sp>
    </p:spTree>
    <p:extLst>
      <p:ext uri="{BB962C8B-B14F-4D97-AF65-F5344CB8AC3E}">
        <p14:creationId xmlns:p14="http://schemas.microsoft.com/office/powerpoint/2010/main" val="1604913561"/>
      </p:ext>
    </p:extLst>
  </p:cSld>
</p:sld>
</file>

<file path=ppt/slides/slide5.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7E008C-7E20-42A3-8B75-1891AC2FB9B0}"/>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E64200D7-9020-4628-B39B-964B7177D631}"/>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7E6DAF0-277F-470B-83FF-06F9C28D1D23}"/>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IMPLEMENTATION 15%</a:t>
            </a:r>
          </a:p>
        </p:txBody>
      </p:sp>
      <p:sp>
        <p:nvSpPr>
          <p:cNvPr id="4" name="">
            <a:extLst xmlns:a="http://schemas.openxmlformats.org/drawingml/2006/main">
              <a:ext uri="{FF2B5EF4-FFF2-40B4-BE49-F238E27FC236}">
                <a16:creationId xmlns:a16="http://schemas.microsoft.com/office/drawing/2014/main" id="{5C75F09A-5337-4807-935B-E52A6FC91BBA}"/>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MCP protection through a standard client</a:t>
            </a:r>
          </a:p>
        </p:txBody>
      </p:sp>
      <p:sp>
        <p:nvSpPr>
          <p:cNvPr id="5" name="">
            <a:extLst xmlns:a="http://schemas.openxmlformats.org/drawingml/2006/main">
              <a:ext uri="{FF2B5EF4-FFF2-40B4-BE49-F238E27FC236}">
                <a16:creationId xmlns:a16="http://schemas.microsoft.com/office/drawing/2014/main" id="{1EF52803-EAE1-47C1-8CC4-4F051FD1ECF1}"/>
              </a:ext>
            </a:extLst>
          </p:cNvPr>
          <p:cNvSpPr>
            <a:spLocks xmlns:a="http://schemas.openxmlformats.org/drawingml/2006/main" noGrp="1"/>
          </p:cNvSpPr>
          <p:nvPr/>
        </p:nvSpPr>
        <p:spPr>
          <a:xfrm xmlns:a="http://schemas.openxmlformats.org/drawingml/2006/main">
            <a:off x="571500" y="2009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9CBC7"/>
                </a:solidFill>
                <a:latin typeface="Helvetica Neue"/>
                <a:ea typeface="Helvetica Neue"/>
                <a:cs typeface="Helvetica Neue"/>
              </a:defRPr>
            </a:pPr>
            <a:r>
              <a:rPr sz="2250" b="0">
                <a:solidFill>
                  <a:srgbClr val="B9CBC7"/>
                </a:solidFill>
                <a:latin typeface="Helvetica Neue"/>
                <a:ea typeface="Helvetica Neue"/>
                <a:cs typeface="Helvetica Neue"/>
              </a:rPr>
              <a:t>FastMCP client connects to /mcp/ with an agent credential</a:t>
            </a:r>
          </a:p>
        </p:txBody>
      </p:sp>
      <p:sp>
        <p:nvSpPr>
          <p:cNvPr id="6" name="">
            <a:extLst xmlns:a="http://schemas.openxmlformats.org/drawingml/2006/main">
              <a:ext uri="{FF2B5EF4-FFF2-40B4-BE49-F238E27FC236}">
                <a16:creationId xmlns:a16="http://schemas.microsoft.com/office/drawing/2014/main" id="{CBE8CB0D-835E-4E02-8AA2-23DFA7E520A6}"/>
              </a:ext>
            </a:extLst>
          </p:cNvPr>
          <p:cNvSpPr>
            <a:spLocks xmlns:a="http://schemas.openxmlformats.org/drawingml/2006/main" noGrp="1"/>
          </p:cNvSpPr>
          <p:nvPr/>
        </p:nvSpPr>
        <p:spPr>
          <a:xfrm xmlns:a="http://schemas.openxmlformats.org/drawingml/2006/main">
            <a:off x="571500" y="2819400"/>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await client.call_tool("invoke", {</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    "tool": "text.uppercase",</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    "arguments": {"text": "hello"}</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a:t>
            </a:r>
          </a:p>
        </p:txBody>
      </p:sp>
      <p:graphicFrame>
        <p:nvGraphicFramePr>
          <p:cNvPr id="15" name=""/>
          <p:cNvGraphicFramePr/>
          <p:nvPr/>
        </p:nvGraphicFramePr>
        <p:xfrm>
          <a:off xmlns:a="http://schemas.openxmlformats.org/drawingml/2006/main" x="571500" y="4619625"/>
          <a:ext xmlns:a="http://schemas.openxmlformats.org/drawingml/2006/main" cx="11049000" cy="1600200"/>
        </p:xfrm>
        <a:graphic xmlns:a="http://schemas.openxmlformats.org/drawingml/2006/main">
          <a:graphicData uri="http://schemas.openxmlformats.org/drawingml/2006/table">
            <a:tbl>
              <a:tblPr/>
              <a:tblGrid>
                <a:gridCol w="1809750"/>
                <a:gridCol w="6381750"/>
                <a:gridCol w="2857500"/>
              </a:tblGrid>
              <a:tr h="533400">
                <a:tc>
                  <a:txBody>
                    <a:bodyPr/>
                    <a:lstStyle/>
                    <a:p>
                      <a:r>
                        <a:rPr sz="1875" b="1">
                          <a:solidFill>
                            <a:srgbClr val="F6F7F2"/>
                          </a:solidFill>
                          <a:latin typeface="Helvetica Neue"/>
                          <a:ea typeface="Helvetica Neue"/>
                          <a:cs typeface="Helvetica Neue"/>
                        </a:rPr>
                        <a:t>Policy</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Actual MCP result</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Backend calls</a:t>
                      </a:r>
                    </a:p>
                  </a:txBody>
                  <a:tcPr marL="91440" marR="91440" marT="45720" marB="45720">
                    <a:solidFill>
                      <a:srgbClr val="153F38"/>
                    </a:solidFill>
                  </a:tcPr>
                </a:tc>
              </a:tr>
              <a:tr h="533400">
                <a:tc>
                  <a:txBody>
                    <a:bodyPr/>
                    <a:lstStyle/>
                    <a:p>
                      <a:r>
                        <a:rPr sz="1875" b="1">
                          <a:solidFill>
                            <a:srgbClr val="F6F7F2"/>
                          </a:solidFill>
                          <a:latin typeface="Helvetica Neue"/>
                          <a:ea typeface="Helvetica Neue"/>
                          <a:cs typeface="Helvetica Neue"/>
                        </a:rPr>
                        <a:t>v1</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ALLOW  /  HELLO</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1</a:t>
                      </a:r>
                    </a:p>
                  </a:txBody>
                  <a:tcPr marL="91440" marR="91440" marT="45720" marB="45720">
                    <a:solidFill>
                      <a:srgbClr val="092524"/>
                    </a:solidFill>
                  </a:tcPr>
                </a:tc>
              </a:tr>
              <a:tr h="533400">
                <a:tc>
                  <a:txBody>
                    <a:bodyPr/>
                    <a:lstStyle/>
                    <a:p>
                      <a:r>
                        <a:rPr sz="1875" b="1">
                          <a:solidFill>
                            <a:srgbClr val="F6F7F2"/>
                          </a:solidFill>
                          <a:latin typeface="Helvetica Neue"/>
                          <a:ea typeface="Helvetica Neue"/>
                          <a:cs typeface="Helvetica Neue"/>
                        </a:rPr>
                        <a:t>v2</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BLOCK  /  input_text_rule</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Still 1</a:t>
                      </a:r>
                    </a:p>
                  </a:txBody>
                  <a:tcPr marL="91440" marR="91440" marT="45720" marB="45720">
                    <a:solidFill>
                      <a:srgbClr val="092524"/>
                    </a:solidFill>
                  </a:tcPr>
                </a:tc>
              </a:tr>
            </a:tbl>
          </a:graphicData>
        </a:graphic>
      </p:graphicFrame>
      <p:sp>
        <p:nvSpPr>
          <p:cNvPr id="8" name="">
            <a:extLst xmlns:a="http://schemas.openxmlformats.org/drawingml/2006/main">
              <a:ext uri="{FF2B5EF4-FFF2-40B4-BE49-F238E27FC236}">
                <a16:creationId xmlns:a16="http://schemas.microsoft.com/office/drawing/2014/main" id="{78A4EB27-BBF8-4DEF-A0EA-4BD0E8E12BCF}"/>
              </a:ext>
            </a:extLst>
          </p:cNvPr>
          <p:cNvSpPr>
            <a:spLocks xmlns:a="http://schemas.openxmlformats.org/drawingml/2006/main" noGrp="1"/>
          </p:cNvSpPr>
          <p:nvPr/>
        </p:nvSpPr>
        <p:spPr>
          <a:xfrm xmlns:a="http://schemas.openxmlformats.org/drawingml/2006/main">
            <a:off x="571500" y="63531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9CBC7"/>
                </a:solidFill>
                <a:latin typeface="Helvetica Neue"/>
                <a:ea typeface="Helvetica Neue"/>
                <a:cs typeface="Helvetica Neue"/>
              </a:defRPr>
            </a:pPr>
            <a:r>
              <a:rPr sz="1575" b="0">
                <a:solidFill>
                  <a:srgbClr val="B9CBC7"/>
                </a:solidFill>
                <a:latin typeface="Helvetica Neue"/>
                <a:ea typeface="Helvetica Neue"/>
                <a:cs typeface="Helvetica Neue"/>
              </a:rPr>
              <a:t>Real HTTP protocol and real local tool. No model inference in this test.</a:t>
            </a:r>
          </a:p>
        </p:txBody>
      </p:sp>
    </p:spTree>
    <p:extLst>
      <p:ext uri="{BB962C8B-B14F-4D97-AF65-F5344CB8AC3E}">
        <p14:creationId xmlns:p14="http://schemas.microsoft.com/office/powerpoint/2010/main" val="244215852"/>
      </p:ext>
    </p:extLst>
  </p:cSld>
</p:sld>
</file>

<file path=ppt/slides/slide6.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E02220-186A-4EC2-AEB2-AC1FA5DDC342}"/>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2E4FE9C0-1DFF-444E-A141-E1DD40A5D76C}"/>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9FCD6CD-AE7C-448B-ABE5-103CD9A3545C}"/>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IMPLEMENTATION 15%</a:t>
            </a:r>
          </a:p>
        </p:txBody>
      </p:sp>
      <p:sp>
        <p:nvSpPr>
          <p:cNvPr id="4" name="">
            <a:extLst xmlns:a="http://schemas.openxmlformats.org/drawingml/2006/main">
              <a:ext uri="{FF2B5EF4-FFF2-40B4-BE49-F238E27FC236}">
                <a16:creationId xmlns:a16="http://schemas.microsoft.com/office/drawing/2014/main" id="{0B5E8714-8B27-451E-9F13-5B91718A232C}"/>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ACP agent calls share the same controls</a:t>
            </a:r>
          </a:p>
        </p:txBody>
      </p:sp>
      <p:sp>
        <p:nvSpPr>
          <p:cNvPr id="5" name="">
            <a:extLst xmlns:a="http://schemas.openxmlformats.org/drawingml/2006/main">
              <a:ext uri="{FF2B5EF4-FFF2-40B4-BE49-F238E27FC236}">
                <a16:creationId xmlns:a16="http://schemas.microsoft.com/office/drawing/2014/main" id="{E3072545-5BDA-4660-ACCC-AF728A9EF113}"/>
              </a:ext>
            </a:extLst>
          </p:cNvPr>
          <p:cNvSpPr>
            <a:spLocks xmlns:a="http://schemas.openxmlformats.org/drawingml/2006/main" noGrp="1"/>
          </p:cNvSpPr>
          <p:nvPr/>
        </p:nvSpPr>
        <p:spPr>
          <a:xfrm xmlns:a="http://schemas.openxmlformats.org/drawingml/2006/main">
            <a:off x="571500" y="200977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35E"/>
                </a:solidFill>
                <a:latin typeface="Helvetica Neue"/>
                <a:ea typeface="Helvetica Neue"/>
                <a:cs typeface="Helvetica Neue"/>
              </a:defRPr>
            </a:pPr>
            <a:r>
              <a:rPr sz="2250" b="0">
                <a:solidFill>
                  <a:srgbClr val="52635E"/>
                </a:solidFill>
                <a:latin typeface="Helvetica Neue"/>
                <a:ea typeface="Helvetica Neue"/>
                <a:cs typeface="Helvetica Neue"/>
              </a:rPr>
              <a:t>Official ACP SDK client and an actual local agent</a:t>
            </a:r>
          </a:p>
        </p:txBody>
      </p:sp>
      <p:sp>
        <p:nvSpPr>
          <p:cNvPr id="6" name="">
            <a:extLst xmlns:a="http://schemas.openxmlformats.org/drawingml/2006/main">
              <a:ext uri="{FF2B5EF4-FFF2-40B4-BE49-F238E27FC236}">
                <a16:creationId xmlns:a16="http://schemas.microsoft.com/office/drawing/2014/main" id="{3D8C00B7-5CC9-4194-89BE-08A4BED845A2}"/>
              </a:ext>
            </a:extLst>
          </p:cNvPr>
          <p:cNvSpPr>
            <a:spLocks xmlns:a="http://schemas.openxmlformats.org/drawingml/2006/main" noGrp="1"/>
          </p:cNvSpPr>
          <p:nvPr/>
        </p:nvSpPr>
        <p:spPr>
          <a:xfrm xmlns:a="http://schemas.openxmlformats.org/drawingml/2006/main">
            <a:off x="571500" y="2809875"/>
            <a:ext cx="10953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await client.run_sync(</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    agent="uppercase",</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    input=[Message(role="user", parts=[MessagePart(content="hello")])]</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a:t>
            </a:r>
          </a:p>
        </p:txBody>
      </p:sp>
      <p:graphicFrame>
        <p:nvGraphicFramePr>
          <p:cNvPr id="15" name=""/>
          <p:cNvGraphicFramePr/>
          <p:nvPr/>
        </p:nvGraphicFramePr>
        <p:xfrm>
          <a:off xmlns:a="http://schemas.openxmlformats.org/drawingml/2006/main" x="571500" y="4619625"/>
          <a:ext xmlns:a="http://schemas.openxmlformats.org/drawingml/2006/main" cx="11049000" cy="1600200"/>
        </p:xfrm>
        <a:graphic xmlns:a="http://schemas.openxmlformats.org/drawingml/2006/main">
          <a:graphicData uri="http://schemas.openxmlformats.org/drawingml/2006/table">
            <a:tbl>
              <a:tblPr/>
              <a:tblGrid>
                <a:gridCol w="1809750"/>
                <a:gridCol w="6381750"/>
                <a:gridCol w="2857500"/>
              </a:tblGrid>
              <a:tr h="533400">
                <a:tc>
                  <a:txBody>
                    <a:bodyPr/>
                    <a:lstStyle/>
                    <a:p>
                      <a:r>
                        <a:rPr sz="1875" b="1">
                          <a:solidFill>
                            <a:srgbClr val="102C2A"/>
                          </a:solidFill>
                          <a:latin typeface="Helvetica Neue"/>
                          <a:ea typeface="Helvetica Neue"/>
                          <a:cs typeface="Helvetica Neue"/>
                        </a:rPr>
                        <a:t>Policy</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Actual ACP run</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Peer calls</a:t>
                      </a:r>
                    </a:p>
                  </a:txBody>
                  <a:tcPr marL="91440" marR="91440" marT="45720" marB="45720">
                    <a:solidFill>
                      <a:srgbClr val="DDEBE3"/>
                    </a:solidFill>
                  </a:tcPr>
                </a:tc>
              </a:tr>
              <a:tr h="533400">
                <a:tc>
                  <a:txBody>
                    <a:bodyPr/>
                    <a:lstStyle/>
                    <a:p>
                      <a:r>
                        <a:rPr sz="1875" b="1">
                          <a:solidFill>
                            <a:srgbClr val="102C2A"/>
                          </a:solidFill>
                          <a:latin typeface="Helvetica Neue"/>
                          <a:ea typeface="Helvetica Neue"/>
                          <a:cs typeface="Helvetica Neue"/>
                        </a:rPr>
                        <a:t>v1</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COMPLETED  /  HELLO</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a:t>
                      </a:r>
                    </a:p>
                  </a:txBody>
                  <a:tcPr marL="91440" marR="91440" marT="45720" marB="45720">
                    <a:solidFill>
                      <a:srgbClr val="F6F7F2"/>
                    </a:solidFill>
                  </a:tcPr>
                </a:tc>
              </a:tr>
              <a:tr h="533400">
                <a:tc>
                  <a:txBody>
                    <a:bodyPr/>
                    <a:lstStyle/>
                    <a:p>
                      <a:r>
                        <a:rPr sz="1875" b="1">
                          <a:solidFill>
                            <a:srgbClr val="102C2A"/>
                          </a:solidFill>
                          <a:latin typeface="Helvetica Neue"/>
                          <a:ea typeface="Helvetica Neue"/>
                          <a:cs typeface="Helvetica Neue"/>
                        </a:rPr>
                        <a:t>v2</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FAILED  /  input_text_rule</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Still 1</a:t>
                      </a:r>
                    </a:p>
                  </a:txBody>
                  <a:tcPr marL="91440" marR="91440" marT="45720" marB="45720">
                    <a:solidFill>
                      <a:srgbClr val="F6F7F2"/>
                    </a:solidFill>
                  </a:tcPr>
                </a:tc>
              </a:tr>
            </a:tbl>
          </a:graphicData>
        </a:graphic>
      </p:graphicFrame>
      <p:sp>
        <p:nvSpPr>
          <p:cNvPr id="8" name="">
            <a:extLst xmlns:a="http://schemas.openxmlformats.org/drawingml/2006/main">
              <a:ext uri="{FF2B5EF4-FFF2-40B4-BE49-F238E27FC236}">
                <a16:creationId xmlns:a16="http://schemas.microsoft.com/office/drawing/2014/main" id="{6C558B37-6AB4-4660-96AE-BF90B1DAAFAF}"/>
              </a:ext>
            </a:extLst>
          </p:cNvPr>
          <p:cNvSpPr>
            <a:spLocks xmlns:a="http://schemas.openxmlformats.org/drawingml/2006/main" noGrp="1"/>
          </p:cNvSpPr>
          <p:nvPr/>
        </p:nvSpPr>
        <p:spPr>
          <a:xfrm xmlns:a="http://schemas.openxmlformats.org/drawingml/2006/main">
            <a:off x="571500" y="63531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35E"/>
                </a:solidFill>
                <a:latin typeface="Helvetica Neue"/>
                <a:ea typeface="Helvetica Neue"/>
                <a:cs typeface="Helvetica Neue"/>
              </a:defRPr>
            </a:pPr>
            <a:r>
              <a:rPr sz="1575" b="0">
                <a:solidFill>
                  <a:srgbClr val="52635E"/>
                </a:solidFill>
                <a:latin typeface="Helvetica Neue"/>
                <a:ea typeface="Helvetica Neue"/>
                <a:cs typeface="Helvetica Neue"/>
              </a:rPr>
              <a:t>Agent Communication Protocol. Stateless, synchronous text. No model inference.</a:t>
            </a:r>
          </a:p>
        </p:txBody>
      </p:sp>
    </p:spTree>
    <p:extLst>
      <p:ext uri="{BB962C8B-B14F-4D97-AF65-F5344CB8AC3E}">
        <p14:creationId xmlns:p14="http://schemas.microsoft.com/office/powerpoint/2010/main" val="1263559220"/>
      </p:ext>
    </p:extLst>
  </p:cSld>
</p:sld>
</file>

<file path=ppt/slides/slide7.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DE373E-F68E-4485-A329-8D97E84603C7}"/>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E8AD0F8F-C990-4F28-BC35-8981C02C3F00}"/>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9B5C13F-2561-482C-9861-D3835A5DAF17}"/>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SOLUTION 30%</a:t>
            </a:r>
          </a:p>
        </p:txBody>
      </p:sp>
      <p:sp>
        <p:nvSpPr>
          <p:cNvPr id="4" name="">
            <a:extLst xmlns:a="http://schemas.openxmlformats.org/drawingml/2006/main">
              <a:ext uri="{FF2B5EF4-FFF2-40B4-BE49-F238E27FC236}">
                <a16:creationId xmlns:a16="http://schemas.microsoft.com/office/drawing/2014/main" id="{25DF2E71-A94B-4D5E-9CEE-3D397D18D47D}"/>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Privacy with optional, authorized restoration</a:t>
            </a:r>
          </a:p>
        </p:txBody>
      </p:sp>
      <p:sp>
        <p:nvSpPr>
          <p:cNvPr id="5" name="">
            <a:extLst xmlns:a="http://schemas.openxmlformats.org/drawingml/2006/main">
              <a:ext uri="{FF2B5EF4-FFF2-40B4-BE49-F238E27FC236}">
                <a16:creationId xmlns:a16="http://schemas.microsoft.com/office/drawing/2014/main" id="{40D1ECCF-0238-424E-B74E-DF51601161B0}"/>
              </a:ext>
            </a:extLst>
          </p:cNvPr>
          <p:cNvSpPr>
            <a:spLocks xmlns:a="http://schemas.openxmlformats.org/drawingml/2006/main" noGrp="1"/>
          </p:cNvSpPr>
          <p:nvPr/>
        </p:nvSpPr>
        <p:spPr>
          <a:xfrm xmlns:a="http://schemas.openxmlformats.org/drawingml/2006/main">
            <a:off x="571500" y="2152650"/>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CF578"/>
                </a:solidFill>
                <a:latin typeface="Helvetica Neue"/>
                <a:ea typeface="Helvetica Neue"/>
                <a:cs typeface="Helvetica Neue"/>
              </a:defRPr>
            </a:pPr>
            <a:r>
              <a:rPr sz="2550" b="1">
                <a:solidFill>
                  <a:srgbClr val="CCF578"/>
                </a:solidFill>
                <a:latin typeface="Helvetica Neue"/>
                <a:ea typeface="Helvetica Neue"/>
                <a:cs typeface="Helvetica Neue"/>
              </a:rPr>
              <a:t>Irreversible masking</a:t>
            </a:r>
          </a:p>
        </p:txBody>
      </p:sp>
      <p:sp>
        <p:nvSpPr>
          <p:cNvPr id="6" name="">
            <a:extLst xmlns:a="http://schemas.openxmlformats.org/drawingml/2006/main">
              <a:ext uri="{FF2B5EF4-FFF2-40B4-BE49-F238E27FC236}">
                <a16:creationId xmlns:a16="http://schemas.microsoft.com/office/drawing/2014/main" id="{B1585164-B19A-471A-AE3C-18B29FED4EFC}"/>
              </a:ext>
            </a:extLst>
          </p:cNvPr>
          <p:cNvSpPr>
            <a:spLocks xmlns:a="http://schemas.openxmlformats.org/drawingml/2006/main" noGrp="1"/>
          </p:cNvSpPr>
          <p:nvPr/>
        </p:nvSpPr>
        <p:spPr>
          <a:xfrm xmlns:a="http://schemas.openxmlformats.org/drawingml/2006/main">
            <a:off x="571500" y="28765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Matched data becomes a safe alias.</a:t>
            </a:r>
          </a:p>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No original value to restore.</a:t>
            </a:r>
          </a:p>
        </p:txBody>
      </p:sp>
      <p:sp>
        <p:nvSpPr>
          <p:cNvPr id="7" name="">
            <a:extLst xmlns:a="http://schemas.openxmlformats.org/drawingml/2006/main">
              <a:ext uri="{FF2B5EF4-FFF2-40B4-BE49-F238E27FC236}">
                <a16:creationId xmlns:a16="http://schemas.microsoft.com/office/drawing/2014/main" id="{275862AF-24F4-4198-BEB2-C863644DAE0D}"/>
              </a:ext>
            </a:extLst>
          </p:cNvPr>
          <p:cNvSpPr>
            <a:spLocks xmlns:a="http://schemas.openxmlformats.org/drawingml/2006/main" noGrp="1"/>
          </p:cNvSpPr>
          <p:nvPr/>
        </p:nvSpPr>
        <p:spPr>
          <a:xfrm xmlns:a="http://schemas.openxmlformats.org/drawingml/2006/main">
            <a:off x="6286500" y="2152650"/>
            <a:ext cx="533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CF578"/>
                </a:solidFill>
                <a:latin typeface="Helvetica Neue"/>
                <a:ea typeface="Helvetica Neue"/>
                <a:cs typeface="Helvetica Neue"/>
              </a:defRPr>
            </a:pPr>
            <a:r>
              <a:rPr sz="2550" b="1">
                <a:solidFill>
                  <a:srgbClr val="CCF578"/>
                </a:solidFill>
                <a:latin typeface="Helvetica Neue"/>
                <a:ea typeface="Helvetica Neue"/>
                <a:cs typeface="Helvetica Neue"/>
              </a:rPr>
              <a:t>Reversible pseudonymization</a:t>
            </a:r>
          </a:p>
        </p:txBody>
      </p:sp>
      <p:sp>
        <p:nvSpPr>
          <p:cNvPr id="8" name="">
            <a:extLst xmlns:a="http://schemas.openxmlformats.org/drawingml/2006/main">
              <a:ext uri="{FF2B5EF4-FFF2-40B4-BE49-F238E27FC236}">
                <a16:creationId xmlns:a16="http://schemas.microsoft.com/office/drawing/2014/main" id="{395B9C54-27F0-4E8E-8692-D09AE9AACCF0}"/>
              </a:ext>
            </a:extLst>
          </p:cNvPr>
          <p:cNvSpPr>
            <a:spLocks xmlns:a="http://schemas.openxmlformats.org/drawingml/2006/main" noGrp="1"/>
          </p:cNvSpPr>
          <p:nvPr/>
        </p:nvSpPr>
        <p:spPr>
          <a:xfrm xmlns:a="http://schemas.openxmlformats.org/drawingml/2006/main">
            <a:off x="6286500" y="2876550"/>
            <a:ext cx="5334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Self-contained encrypted tokens.</a:t>
            </a:r>
          </a:p>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Public-key encryption, private-key recovery.</a:t>
            </a:r>
          </a:p>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No conversation database.</a:t>
            </a:r>
          </a:p>
        </p:txBody>
      </p:sp>
      <p:graphicFrame>
        <p:nvGraphicFramePr>
          <p:cNvPr id="19" name=""/>
          <p:cNvGraphicFramePr/>
          <p:nvPr/>
        </p:nvGraphicFramePr>
        <p:xfrm>
          <a:off xmlns:a="http://schemas.openxmlformats.org/drawingml/2006/main" x="571500" y="4552950"/>
          <a:ext xmlns:a="http://schemas.openxmlformats.org/drawingml/2006/main" cx="11049000" cy="1600200"/>
        </p:xfrm>
        <a:graphic xmlns:a="http://schemas.openxmlformats.org/drawingml/2006/main">
          <a:graphicData uri="http://schemas.openxmlformats.org/drawingml/2006/table">
            <a:tbl>
              <a:tblPr/>
              <a:tblGrid>
                <a:gridCol w="3143250"/>
                <a:gridCol w="3952875"/>
                <a:gridCol w="3952875"/>
              </a:tblGrid>
              <a:tr h="533400">
                <a:tc>
                  <a:txBody>
                    <a:bodyPr/>
                    <a:lstStyle/>
                    <a:p>
                      <a:r>
                        <a:rPr sz="1875" b="1">
                          <a:solidFill>
                            <a:srgbClr val="F6F7F2"/>
                          </a:solidFill>
                          <a:latin typeface="Helvetica Neue"/>
                          <a:ea typeface="Helvetica Neue"/>
                          <a:cs typeface="Helvetica Neue"/>
                        </a:rPr>
                        <a:t>Return mode</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Actual response</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Upstream receives</a:t>
                      </a:r>
                    </a:p>
                  </a:txBody>
                  <a:tcPr marL="91440" marR="91440" marT="45720" marB="45720">
                    <a:solidFill>
                      <a:srgbClr val="153F38"/>
                    </a:solidFill>
                  </a:tcPr>
                </a:tc>
              </a:tr>
              <a:tr h="533400">
                <a:tc>
                  <a:txBody>
                    <a:bodyPr/>
                    <a:lstStyle/>
                    <a:p>
                      <a:r>
                        <a:rPr sz="1875" b="1">
                          <a:solidFill>
                            <a:srgbClr val="F6F7F2"/>
                          </a:solidFill>
                          <a:latin typeface="Helvetica Neue"/>
                          <a:ea typeface="Helvetica Neue"/>
                          <a:cs typeface="Helvetica Neue"/>
                        </a:rPr>
                        <a:t>Restore OFF</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FFR2 token</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token</a:t>
                      </a:r>
                    </a:p>
                  </a:txBody>
                  <a:tcPr marL="91440" marR="91440" marT="45720" marB="45720">
                    <a:solidFill>
                      <a:srgbClr val="092524"/>
                    </a:solidFill>
                  </a:tcPr>
                </a:tc>
              </a:tr>
              <a:tr h="533400">
                <a:tc>
                  <a:txBody>
                    <a:bodyPr/>
                    <a:lstStyle/>
                    <a:p>
                      <a:r>
                        <a:rPr sz="1875" b="1">
                          <a:solidFill>
                            <a:srgbClr val="F6F7F2"/>
                          </a:solidFill>
                          <a:latin typeface="Helvetica Neue"/>
                          <a:ea typeface="Helvetica Neue"/>
                          <a:cs typeface="Helvetica Neue"/>
                        </a:rPr>
                        <a:t>Restore ON</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Anna Kowalska</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token</a:t>
                      </a:r>
                    </a:p>
                  </a:txBody>
                  <a:tcPr marL="91440" marR="91440" marT="45720" marB="45720">
                    <a:solidFill>
                      <a:srgbClr val="092524"/>
                    </a:solidFill>
                  </a:tcPr>
                </a:tc>
              </a:tr>
            </a:tbl>
          </a:graphicData>
        </a:graphic>
      </p:graphicFrame>
      <p:sp>
        <p:nvSpPr>
          <p:cNvPr id="10" name="">
            <a:extLst xmlns:a="http://schemas.openxmlformats.org/drawingml/2006/main">
              <a:ext uri="{FF2B5EF4-FFF2-40B4-BE49-F238E27FC236}">
                <a16:creationId xmlns:a16="http://schemas.microsoft.com/office/drawing/2014/main" id="{5CC811FE-A637-4846-8465-82459279EA7F}"/>
              </a:ext>
            </a:extLst>
          </p:cNvPr>
          <p:cNvSpPr>
            <a:spLocks xmlns:a="http://schemas.openxmlformats.org/drawingml/2006/main" noGrp="1"/>
          </p:cNvSpPr>
          <p:nvPr/>
        </p:nvSpPr>
        <p:spPr>
          <a:xfrm xmlns:a="http://schemas.openxmlformats.org/drawingml/2006/main">
            <a:off x="571500" y="6296025"/>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9CBC7"/>
                </a:solidFill>
                <a:latin typeface="Helvetica Neue"/>
                <a:ea typeface="Helvetica Neue"/>
                <a:cs typeface="Helvetica Neue"/>
              </a:defRPr>
            </a:pPr>
            <a:r>
              <a:rPr sz="1575" b="0">
                <a:solidFill>
                  <a:srgbClr val="B9CBC7"/>
                </a:solidFill>
                <a:latin typeface="Helvetica Neue"/>
                <a:ea typeface="Helvetica Neue"/>
                <a:cs typeface="Helvetica Neue"/>
              </a:rPr>
              <a:t>Actual local echo test, no LLM. Gateway holds both keys. Restore needs permission.</a:t>
            </a:r>
          </a:p>
        </p:txBody>
      </p:sp>
    </p:spTree>
    <p:extLst>
      <p:ext uri="{BB962C8B-B14F-4D97-AF65-F5344CB8AC3E}">
        <p14:creationId xmlns:p14="http://schemas.microsoft.com/office/powerpoint/2010/main" val="919352805"/>
      </p:ext>
    </p:extLst>
  </p:cSld>
</p:sld>
</file>

<file path=ppt/slides/slide8.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BC712C-16CF-43DC-AA3B-5CFE58411A75}"/>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3F70ECE1-2AD5-4114-897D-8567CF4A7C0D}"/>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50D6AF7-9122-49C2-B170-60909F80000C}"/>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SOLUTION 30%</a:t>
            </a:r>
          </a:p>
        </p:txBody>
      </p:sp>
      <p:sp>
        <p:nvSpPr>
          <p:cNvPr id="4" name="">
            <a:extLst xmlns:a="http://schemas.openxmlformats.org/drawingml/2006/main">
              <a:ext uri="{FF2B5EF4-FFF2-40B4-BE49-F238E27FC236}">
                <a16:creationId xmlns:a16="http://schemas.microsoft.com/office/drawing/2014/main" id="{D079919C-2964-4F34-BFAC-F2167BCD48FC}"/>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Useful documents with protected contact data</a:t>
            </a:r>
          </a:p>
        </p:txBody>
      </p:sp>
      <p:sp>
        <p:nvSpPr>
          <p:cNvPr id="5" name="">
            <a:extLst xmlns:a="http://schemas.openxmlformats.org/drawingml/2006/main">
              <a:ext uri="{FF2B5EF4-FFF2-40B4-BE49-F238E27FC236}">
                <a16:creationId xmlns:a16="http://schemas.microsoft.com/office/drawing/2014/main" id="{30CF1276-EC8B-4E28-9ADD-541E600554F2}"/>
              </a:ext>
            </a:extLst>
          </p:cNvPr>
          <p:cNvSpPr>
            <a:spLocks xmlns:a="http://schemas.openxmlformats.org/drawingml/2006/main" noGrp="1"/>
          </p:cNvSpPr>
          <p:nvPr/>
        </p:nvSpPr>
        <p:spPr>
          <a:xfrm xmlns:a="http://schemas.openxmlformats.org/drawingml/2006/main">
            <a:off x="571500"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52635E"/>
                </a:solidFill>
                <a:latin typeface="Helvetica Neue"/>
                <a:ea typeface="Helvetica Neue"/>
                <a:cs typeface="Helvetica Neue"/>
              </a:defRPr>
            </a:pPr>
            <a:r>
              <a:rPr sz="2250" b="1">
                <a:solidFill>
                  <a:srgbClr val="52635E"/>
                </a:solidFill>
                <a:latin typeface="Helvetica Neue"/>
                <a:ea typeface="Helvetica Neue"/>
                <a:cs typeface="Helvetica Neue"/>
              </a:rPr>
              <a:t>Original two-page PDF</a:t>
            </a:r>
          </a:p>
        </p:txBody>
      </p:sp>
      <p:sp>
        <p:nvSpPr>
          <p:cNvPr id="6" name="">
            <a:extLst xmlns:a="http://schemas.openxmlformats.org/drawingml/2006/main">
              <a:ext uri="{FF2B5EF4-FFF2-40B4-BE49-F238E27FC236}">
                <a16:creationId xmlns:a16="http://schemas.microsoft.com/office/drawing/2014/main" id="{1694541A-72F9-4030-8E44-458E9CFE7E40}"/>
              </a:ext>
            </a:extLst>
          </p:cNvPr>
          <p:cNvSpPr>
            <a:spLocks xmlns:a="http://schemas.openxmlformats.org/drawingml/2006/main" noGrp="1"/>
          </p:cNvSpPr>
          <p:nvPr/>
        </p:nvSpPr>
        <p:spPr>
          <a:xfrm xmlns:a="http://schemas.openxmlformats.org/drawingml/2006/main">
            <a:off x="6429375"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2"/>
                </a:solidFill>
                <a:latin typeface="Helvetica Neue"/>
                <a:ea typeface="Helvetica Neue"/>
                <a:cs typeface="Helvetica Neue"/>
              </a:defRPr>
            </a:pPr>
            <a:r>
              <a:rPr sz="2250" b="1">
                <a:solidFill>
                  <a:srgbClr val="007F72"/>
                </a:solidFill>
                <a:latin typeface="Helvetica Neue"/>
                <a:ea typeface="Helvetica Neue"/>
                <a:cs typeface="Helvetica Neue"/>
              </a:rPr>
              <a:t>Protected Markdown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ee4e982ed3413d"/>
          <a:stretch xmlns:a="http://schemas.openxmlformats.org/drawingml/2006/main"/>
        </p:blipFill>
        <p:spPr>
          <a:xfrm xmlns:a="http://schemas.openxmlformats.org/drawingml/2006/main">
            <a:off x="571500" y="2905125"/>
            <a:ext cx="5095875" cy="25717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549729790d84c57"/>
          <a:stretch xmlns:a="http://schemas.openxmlformats.org/drawingml/2006/main"/>
        </p:blipFill>
        <p:spPr>
          <a:xfrm xmlns:a="http://schemas.openxmlformats.org/drawingml/2006/main">
            <a:off x="6429375" y="2736581"/>
            <a:ext cx="5191125" cy="31850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E544087-471E-40BD-A634-0FF82FC28F72}"/>
              </a:ext>
            </a:extLst>
          </p:cNvPr>
          <p:cNvSpPr>
            <a:spLocks xmlns:a="http://schemas.openxmlformats.org/drawingml/2006/main" noGrp="1"/>
          </p:cNvSpPr>
          <p:nvPr/>
        </p:nvSpPr>
        <p:spPr>
          <a:xfrm xmlns:a="http://schemas.openxmlformats.org/drawingml/2006/main">
            <a:off x="571500" y="5972175"/>
            <a:ext cx="1104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C2A"/>
                </a:solidFill>
                <a:latin typeface="Helvetica Neue"/>
                <a:ea typeface="Helvetica Neue"/>
                <a:cs typeface="Helvetica Neue"/>
              </a:defRPr>
            </a:pPr>
            <a:r>
              <a:rPr sz="2625" b="1">
                <a:solidFill>
                  <a:srgbClr val="102C2A"/>
                </a:solidFill>
                <a:latin typeface="Helvetica Neue"/>
                <a:ea typeface="Helvetica Neue"/>
                <a:cs typeface="Helvetica Neue"/>
              </a:rPr>
              <a:t>2 pages. 2 email redactions. Real Qwen response.</a:t>
            </a:r>
          </a:p>
        </p:txBody>
      </p:sp>
      <p:sp>
        <p:nvSpPr>
          <p:cNvPr id="10" name="">
            <a:extLst xmlns:a="http://schemas.openxmlformats.org/drawingml/2006/main">
              <a:ext uri="{FF2B5EF4-FFF2-40B4-BE49-F238E27FC236}">
                <a16:creationId xmlns:a16="http://schemas.microsoft.com/office/drawing/2014/main" id="{362270C6-993D-4708-A2F8-73B99ED8FF1A}"/>
              </a:ext>
            </a:extLst>
          </p:cNvPr>
          <p:cNvSpPr>
            <a:spLocks xmlns:a="http://schemas.openxmlformats.org/drawingml/2006/main" noGrp="1"/>
          </p:cNvSpPr>
          <p:nvPr/>
        </p:nvSpPr>
        <p:spPr>
          <a:xfrm xmlns:a="http://schemas.openxmlformats.org/drawingml/2006/main">
            <a:off x="571500" y="64484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35E"/>
                </a:solidFill>
                <a:latin typeface="Helvetica Neue"/>
                <a:ea typeface="Helvetica Neue"/>
                <a:cs typeface="Helvetica Neue"/>
              </a:defRPr>
            </a:pPr>
            <a:r>
              <a:rPr sz="1500" b="0">
                <a:solidFill>
                  <a:srgbClr val="52635E"/>
                </a:solidFill>
                <a:latin typeface="Helvetica Neue"/>
                <a:ea typeface="Helvetica Neue"/>
                <a:cs typeface="Helvetica Neue"/>
              </a:rPr>
              <a:t>Local OCR extracts text. Policies protect it before model use.</a:t>
            </a:r>
          </a:p>
        </p:txBody>
      </p:sp>
    </p:spTree>
    <p:extLst>
      <p:ext uri="{BB962C8B-B14F-4D97-AF65-F5344CB8AC3E}">
        <p14:creationId xmlns:p14="http://schemas.microsoft.com/office/powerpoint/2010/main" val="173219311"/>
      </p:ext>
    </p:extLst>
  </p:cSld>
</p:sld>
</file>

<file path=ppt/slides/slide9.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8A50A4-9A18-470C-ACE7-4A3B4658CD12}"/>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8E82169C-433A-498B-A815-F4430F9EE343}"/>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FFC1F4C1-274D-48AE-8F88-9AC221142040}"/>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TESTING 15%</a:t>
            </a:r>
          </a:p>
        </p:txBody>
      </p:sp>
      <p:sp>
        <p:nvSpPr>
          <p:cNvPr id="4" name="">
            <a:extLst xmlns:a="http://schemas.openxmlformats.org/drawingml/2006/main">
              <a:ext uri="{FF2B5EF4-FFF2-40B4-BE49-F238E27FC236}">
                <a16:creationId xmlns:a16="http://schemas.microsoft.com/office/drawing/2014/main" id="{9E1AEE8E-D118-41EE-BD99-AC6790C3BEEE}"/>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Measured latency with explicit scope</a:t>
            </a:r>
          </a:p>
        </p:txBody>
      </p:sp>
      <p:sp>
        <p:nvSpPr>
          <p:cNvPr id="5" name="">
            <a:extLst xmlns:a="http://schemas.openxmlformats.org/drawingml/2006/main">
              <a:ext uri="{FF2B5EF4-FFF2-40B4-BE49-F238E27FC236}">
                <a16:creationId xmlns:a16="http://schemas.microsoft.com/office/drawing/2014/main" id="{ABE9C39D-9AD2-4D6E-B370-6BAC8F641B9A}"/>
              </a:ext>
            </a:extLst>
          </p:cNvPr>
          <p:cNvSpPr>
            <a:spLocks xmlns:a="http://schemas.openxmlformats.org/drawingml/2006/main" noGrp="1"/>
          </p:cNvSpPr>
          <p:nvPr/>
        </p:nvSpPr>
        <p:spPr>
          <a:xfrm xmlns:a="http://schemas.openxmlformats.org/drawingml/2006/main">
            <a:off x="571500" y="19907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E"/>
                </a:solidFill>
                <a:latin typeface="Helvetica Neue"/>
                <a:ea typeface="Helvetica Neue"/>
                <a:cs typeface="Helvetica Neue"/>
              </a:defRPr>
            </a:pPr>
            <a:r>
              <a:rPr sz="2100" b="0">
                <a:solidFill>
                  <a:srgbClr val="52635E"/>
                </a:solidFill>
                <a:latin typeface="Helvetica Neue"/>
                <a:ea typeface="Helvetica Neue"/>
                <a:cs typeface="Helvetica Neue"/>
              </a:rPr>
              <a:t>Historical package 1.0.2, Apple M3 Pro, concurrency 1</a:t>
            </a:r>
          </a:p>
        </p:txBody>
      </p:sp>
      <p:graphicFrame>
        <p:nvGraphicFramePr>
          <p:cNvPr id="14" name=""/>
          <p:cNvGraphicFramePr/>
          <p:nvPr/>
        </p:nvGraphicFramePr>
        <p:xfrm>
          <a:off xmlns:a="http://schemas.openxmlformats.org/drawingml/2006/main" x="571500" y="2714625"/>
          <a:ext xmlns:a="http://schemas.openxmlformats.org/drawingml/2006/main" cx="11049000" cy="2514600"/>
        </p:xfrm>
        <a:graphic xmlns:a="http://schemas.openxmlformats.org/drawingml/2006/main">
          <a:graphicData uri="http://schemas.openxmlformats.org/drawingml/2006/table">
            <a:tbl>
              <a:tblPr/>
              <a:tblGrid>
                <a:gridCol w="3810000"/>
                <a:gridCol w="1952625"/>
                <a:gridCol w="1952625"/>
                <a:gridCol w="1952625"/>
                <a:gridCol w="1381125"/>
              </a:tblGrid>
              <a:tr h="628650">
                <a:tc>
                  <a:txBody>
                    <a:bodyPr/>
                    <a:lstStyle/>
                    <a:p>
                      <a:r>
                        <a:rPr sz="1875" b="1">
                          <a:solidFill>
                            <a:srgbClr val="102C2A"/>
                          </a:solidFill>
                          <a:latin typeface="Helvetica Neue"/>
                          <a:ea typeface="Helvetica Neue"/>
                          <a:cs typeface="Helvetica Neue"/>
                        </a:rPr>
                        <a:t>Measured path</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p50</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p95</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p99</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Samples</a:t>
                      </a:r>
                    </a:p>
                  </a:txBody>
                  <a:tcPr marL="91440" marR="91440" marT="45720" marB="45720">
                    <a:solidFill>
                      <a:srgbClr val="DDEBE3"/>
                    </a:solidFill>
                  </a:tcPr>
                </a:tc>
              </a:tr>
              <a:tr h="628650">
                <a:tc>
                  <a:txBody>
                    <a:bodyPr/>
                    <a:lstStyle/>
                    <a:p>
                      <a:r>
                        <a:rPr sz="1875" b="1">
                          <a:solidFill>
                            <a:srgbClr val="102C2A"/>
                          </a:solidFill>
                          <a:latin typeface="Helvetica Neue"/>
                          <a:ea typeface="Helvetica Neue"/>
                          <a:cs typeface="Helvetica Neue"/>
                        </a:rPr>
                        <a:t>Controls OFF</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0.000125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0.000167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0.000208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2,000</a:t>
                      </a:r>
                    </a:p>
                  </a:txBody>
                  <a:tcPr marL="91440" marR="91440" marT="45720" marB="45720">
                    <a:solidFill>
                      <a:srgbClr val="F6F7F2"/>
                    </a:solidFill>
                  </a:tcPr>
                </a:tc>
              </a:tr>
              <a:tr h="628650">
                <a:tc>
                  <a:txBody>
                    <a:bodyPr/>
                    <a:lstStyle/>
                    <a:p>
                      <a:r>
                        <a:rPr sz="1875" b="1">
                          <a:solidFill>
                            <a:srgbClr val="102C2A"/>
                          </a:solidFill>
                          <a:latin typeface="Helvetica Neue"/>
                          <a:ea typeface="Helvetica Neue"/>
                          <a:cs typeface="Helvetica Neue"/>
                        </a:rPr>
                        <a:t>Deterministic ON</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0.206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0.248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0.644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2,000</a:t>
                      </a:r>
                    </a:p>
                  </a:txBody>
                  <a:tcPr marL="91440" marR="91440" marT="45720" marB="45720">
                    <a:solidFill>
                      <a:srgbClr val="F6F7F2"/>
                    </a:solidFill>
                  </a:tcPr>
                </a:tc>
              </a:tr>
              <a:tr h="628650">
                <a:tc>
                  <a:txBody>
                    <a:bodyPr/>
                    <a:lstStyle/>
                    <a:p>
                      <a:r>
                        <a:rPr sz="1875" b="1">
                          <a:solidFill>
                            <a:srgbClr val="102C2A"/>
                          </a:solidFill>
                          <a:latin typeface="Helvetica Neue"/>
                          <a:ea typeface="Helvetica Neue"/>
                          <a:cs typeface="Helvetica Neue"/>
                        </a:rPr>
                        <a:t>Laya input + output</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1,117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1,200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1,222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a:t>
                      </a:r>
                    </a:p>
                  </a:txBody>
                  <a:tcPr marL="91440" marR="91440" marT="45720" marB="45720">
                    <a:solidFill>
                      <a:srgbClr val="F6F7F2"/>
                    </a:solidFill>
                  </a:tcPr>
                </a:tc>
              </a:tr>
            </a:tbl>
          </a:graphicData>
        </a:graphic>
      </p:graphicFrame>
      <p:sp>
        <p:nvSpPr>
          <p:cNvPr id="7" name="">
            <a:extLst xmlns:a="http://schemas.openxmlformats.org/drawingml/2006/main">
              <a:ext uri="{FF2B5EF4-FFF2-40B4-BE49-F238E27FC236}">
                <a16:creationId xmlns:a16="http://schemas.microsoft.com/office/drawing/2014/main" id="{7E28BBE7-FC76-4D07-A374-C63800DF61AA}"/>
              </a:ext>
            </a:extLst>
          </p:cNvPr>
          <p:cNvSpPr>
            <a:spLocks xmlns:a="http://schemas.openxmlformats.org/drawingml/2006/main" noGrp="1"/>
          </p:cNvSpPr>
          <p:nvPr/>
        </p:nvSpPr>
        <p:spPr>
          <a:xfrm xmlns:a="http://schemas.openxmlformats.org/drawingml/2006/main">
            <a:off x="571500" y="5400675"/>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OFF calls the fixture directly. ON includes the gateway engine.</a:t>
            </a:r>
          </a:p>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All paths exclude HTTP and business-model generation.</a:t>
            </a:r>
          </a:p>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Laya uses warm Qwen3:4b and a repeated prompt.</a:t>
            </a:r>
          </a:p>
        </p:txBody>
      </p:sp>
      <p:sp>
        <p:nvSpPr>
          <p:cNvPr id="8" name="">
            <a:extLst xmlns:a="http://schemas.openxmlformats.org/drawingml/2006/main">
              <a:ext uri="{FF2B5EF4-FFF2-40B4-BE49-F238E27FC236}">
                <a16:creationId xmlns:a16="http://schemas.microsoft.com/office/drawing/2014/main" id="{40B77B94-DF44-4389-B432-287786F8B869}"/>
              </a:ext>
            </a:extLst>
          </p:cNvPr>
          <p:cNvSpPr>
            <a:spLocks xmlns:a="http://schemas.openxmlformats.org/drawingml/2006/main" noGrp="1"/>
          </p:cNvSpPr>
          <p:nvPr/>
        </p:nvSpPr>
        <p:spPr>
          <a:xfrm xmlns:a="http://schemas.openxmlformats.org/drawingml/2006/main">
            <a:off x="571500" y="626745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2"/>
                </a:solidFill>
                <a:latin typeface="Helvetica Neue"/>
                <a:ea typeface="Helvetica Neue"/>
                <a:cs typeface="Helvetica Neue"/>
              </a:defRPr>
            </a:pPr>
            <a:r>
              <a:rPr sz="1875" b="1">
                <a:solidFill>
                  <a:srgbClr val="007F72"/>
                </a:solidFill>
                <a:latin typeface="Helvetica Neue"/>
                <a:ea typeface="Helvetica Neue"/>
                <a:cs typeface="Helvetica Neue"/>
              </a:rPr>
              <a:t>1.0.7 source: 1,484 tests, 93.28% coverage. Installed package: 406 checks.</a:t>
            </a:r>
          </a:p>
        </p:txBody>
      </p:sp>
    </p:spTree>
    <p:extLst>
      <p:ext uri="{BB962C8B-B14F-4D97-AF65-F5344CB8AC3E}">
        <p14:creationId xmlns:p14="http://schemas.microsoft.com/office/powerpoint/2010/main" val="686822696"/>
      </p:ext>
    </p:extLst>
  </p:cSld>
</p:sld>
</file>

<file path=ppt/slides/slide10.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5AB9C7-2BD0-425E-A22C-251E61C6FCC8}"/>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A8151CE2-A7C3-4005-ABE6-10125CC98DCF}"/>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C78388E0-3871-4BDD-B0F6-2338EFA7AB28}"/>
              </a:ext>
            </a:extLst>
          </p:cNvPr>
          <p:cNvSpPr>
            <a:spLocks xmlns:a="http://schemas.openxmlformats.org/drawingml/2006/main" noGrp="1"/>
          </p:cNvSpPr>
          <p:nvPr/>
        </p:nvSpPr>
        <p:spPr>
          <a:xfrm xmlns:a="http://schemas.openxmlformats.org/drawingml/2006/main">
            <a:off x="6477000" y="285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ARCHITECTURE 20%</a:t>
            </a:r>
          </a:p>
        </p:txBody>
      </p:sp>
      <p:sp>
        <p:nvSpPr>
          <p:cNvPr id="4" name="">
            <a:extLst xmlns:a="http://schemas.openxmlformats.org/drawingml/2006/main">
              <a:ext uri="{FF2B5EF4-FFF2-40B4-BE49-F238E27FC236}">
                <a16:creationId xmlns:a16="http://schemas.microsoft.com/office/drawing/2014/main" id="{A6665252-2250-4E36-97B1-EC3AB42A030A}"/>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Local operation with controlled failure</a:t>
            </a:r>
          </a:p>
        </p:txBody>
      </p:sp>
      <p:sp>
        <p:nvSpPr>
          <p:cNvPr id="5" name="">
            <a:extLst xmlns:a="http://schemas.openxmlformats.org/drawingml/2006/main">
              <a:ext uri="{FF2B5EF4-FFF2-40B4-BE49-F238E27FC236}">
                <a16:creationId xmlns:a16="http://schemas.microsoft.com/office/drawing/2014/main" id="{B0C8F83C-2C17-4994-92C4-41AEC2E39DB2}"/>
              </a:ext>
            </a:extLst>
          </p:cNvPr>
          <p:cNvSpPr>
            <a:spLocks xmlns:a="http://schemas.openxmlformats.org/drawingml/2006/main" noGrp="1"/>
          </p:cNvSpPr>
          <p:nvPr/>
        </p:nvSpPr>
        <p:spPr>
          <a:xfrm xmlns:a="http://schemas.openxmlformats.org/drawingml/2006/main">
            <a:off x="571500" y="22002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6F7F2"/>
                </a:solidFill>
                <a:latin typeface="Helvetica Neue"/>
                <a:ea typeface="Helvetica Neue"/>
                <a:cs typeface="Helvetica Neue"/>
              </a:defRPr>
            </a:pPr>
            <a:r>
              <a:rPr sz="2325" b="0">
                <a:solidFill>
                  <a:srgbClr val="F6F7F2"/>
                </a:solidFill>
                <a:latin typeface="Helvetica Neue"/>
                <a:ea typeface="Helvetica Neue"/>
                <a:cs typeface="Helvetica Neue"/>
              </a:rPr>
              <a:t>Live valid updates. Last valid policy on configuration errors.</a:t>
            </a:r>
          </a:p>
        </p:txBody>
      </p:sp>
      <p:sp>
        <p:nvSpPr>
          <p:cNvPr id="6" name="">
            <a:extLst xmlns:a="http://schemas.openxmlformats.org/drawingml/2006/main">
              <a:ext uri="{FF2B5EF4-FFF2-40B4-BE49-F238E27FC236}">
                <a16:creationId xmlns:a16="http://schemas.microsoft.com/office/drawing/2014/main" id="{99806D2A-4F95-4D72-AEC3-56F9027C9E19}"/>
              </a:ext>
            </a:extLst>
          </p:cNvPr>
          <p:cNvSpPr>
            <a:spLocks xmlns:a="http://schemas.openxmlformats.org/drawingml/2006/main" noGrp="1"/>
          </p:cNvSpPr>
          <p:nvPr/>
        </p:nvSpPr>
        <p:spPr>
          <a:xfrm xmlns:a="http://schemas.openxmlformats.org/drawingml/2006/main">
            <a:off x="571500" y="30670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9CBC7"/>
                </a:solidFill>
                <a:latin typeface="Helvetica Neue"/>
                <a:ea typeface="Helvetica Neue"/>
                <a:cs typeface="Helvetica Neue"/>
              </a:defRPr>
            </a:pPr>
            <a:r>
              <a:rPr sz="2175" b="0">
                <a:solidFill>
                  <a:srgbClr val="B9CBC7"/>
                </a:solidFill>
                <a:latin typeface="Helvetica Neue"/>
                <a:ea typeface="Helvetica Neue"/>
                <a:cs typeface="Helvetica Neue"/>
              </a:rPr>
              <a:t>Idempotent setup preserves configuration, credentials and keys.</a:t>
            </a:r>
          </a:p>
        </p:txBody>
      </p:sp>
      <p:sp>
        <p:nvSpPr>
          <p:cNvPr id="7" name="">
            <a:extLst xmlns:a="http://schemas.openxmlformats.org/drawingml/2006/main">
              <a:ext uri="{FF2B5EF4-FFF2-40B4-BE49-F238E27FC236}">
                <a16:creationId xmlns:a16="http://schemas.microsoft.com/office/drawing/2014/main" id="{99B471AE-D44B-4FD1-A7BD-B6657EEB7EB0}"/>
              </a:ext>
            </a:extLst>
          </p:cNvPr>
          <p:cNvSpPr>
            <a:spLocks xmlns:a="http://schemas.openxmlformats.org/drawingml/2006/main" noGrp="1"/>
          </p:cNvSpPr>
          <p:nvPr/>
        </p:nvSpPr>
        <p:spPr>
          <a:xfrm xmlns:a="http://schemas.openxmlformats.org/drawingml/2006/main">
            <a:off x="571500" y="38766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CBC7"/>
                </a:solidFill>
                <a:latin typeface="Helvetica Neue"/>
                <a:ea typeface="Helvetica Neue"/>
                <a:cs typeface="Helvetica Neue"/>
              </a:defRPr>
            </a:pPr>
            <a:r>
              <a:rPr sz="2100" b="0">
                <a:solidFill>
                  <a:srgbClr val="B9CBC7"/>
                </a:solidFill>
                <a:latin typeface="Helvetica Neue"/>
                <a:ea typeface="Helvetica Neue"/>
                <a:cs typeface="Helvetica Neue"/>
              </a:rPr>
              <a:t>Bounded queue: 1,000 controlled requests and 12 real model calls verified.</a:t>
            </a:r>
          </a:p>
        </p:txBody>
      </p:sp>
      <p:sp>
        <p:nvSpPr>
          <p:cNvPr id="8" name="">
            <a:extLst xmlns:a="http://schemas.openxmlformats.org/drawingml/2006/main">
              <a:ext uri="{FF2B5EF4-FFF2-40B4-BE49-F238E27FC236}">
                <a16:creationId xmlns:a16="http://schemas.microsoft.com/office/drawing/2014/main" id="{CE495A54-58E0-41E9-9B83-85D80CC049E3}"/>
              </a:ext>
            </a:extLst>
          </p:cNvPr>
          <p:cNvSpPr>
            <a:spLocks xmlns:a="http://schemas.openxmlformats.org/drawingml/2006/main" noGrp="1"/>
          </p:cNvSpPr>
          <p:nvPr/>
        </p:nvSpPr>
        <p:spPr>
          <a:xfrm xmlns:a="http://schemas.openxmlformats.org/drawingml/2006/main">
            <a:off x="571500" y="4905375"/>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CCF578"/>
                </a:solidFill>
                <a:latin typeface="Helvetica Neue"/>
                <a:ea typeface="Helvetica Neue"/>
                <a:cs typeface="Helvetica Neue"/>
              </a:defRPr>
            </a:pPr>
            <a:r>
              <a:rPr sz="3825" b="1">
                <a:solidFill>
                  <a:srgbClr val="CCF578"/>
                </a:solidFill>
                <a:latin typeface="Helvetica Neue"/>
                <a:ea typeface="Helvetica Neue"/>
                <a:cs typeface="Helvetica Neue"/>
              </a:rPr>
              <a:t>uv tool run fastfence@1.0.7</a:t>
            </a:r>
          </a:p>
        </p:txBody>
      </p:sp>
      <p:sp>
        <p:nvSpPr>
          <p:cNvPr id="9" name="">
            <a:extLst xmlns:a="http://schemas.openxmlformats.org/drawingml/2006/main">
              <a:ext uri="{FF2B5EF4-FFF2-40B4-BE49-F238E27FC236}">
                <a16:creationId xmlns:a16="http://schemas.microsoft.com/office/drawing/2014/main" id="{D4451C61-1668-475B-A7C1-AFD790C36045}"/>
              </a:ext>
            </a:extLst>
          </p:cNvPr>
          <p:cNvSpPr>
            <a:spLocks xmlns:a="http://schemas.openxmlformats.org/drawingml/2006/main" noGrp="1"/>
          </p:cNvSpPr>
          <p:nvPr/>
        </p:nvSpPr>
        <p:spPr>
          <a:xfrm xmlns:a="http://schemas.openxmlformats.org/drawingml/2006/main">
            <a:off x="571500" y="59245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fastfence.dev   /   github.com/llama-lovers/FastFence</a:t>
            </a:r>
          </a:p>
        </p:txBody>
      </p:sp>
      <p:sp>
        <p:nvSpPr>
          <p:cNvPr id="10" name="">
            <a:extLst xmlns:a="http://schemas.openxmlformats.org/drawingml/2006/main">
              <a:ext uri="{FF2B5EF4-FFF2-40B4-BE49-F238E27FC236}">
                <a16:creationId xmlns:a16="http://schemas.microsoft.com/office/drawing/2014/main" id="{D7E6D94C-C848-4271-BCB1-047C6029E72F}"/>
              </a:ext>
            </a:extLst>
          </p:cNvPr>
          <p:cNvSpPr>
            <a:spLocks xmlns:a="http://schemas.openxmlformats.org/drawingml/2006/main" noGrp="1"/>
          </p:cNvSpPr>
          <p:nvPr/>
        </p:nvSpPr>
        <p:spPr>
          <a:xfrm xmlns:a="http://schemas.openxmlformats.org/drawingml/2006/main">
            <a:off x="571500" y="64484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BC7"/>
                </a:solidFill>
                <a:latin typeface="Helvetica Neue"/>
                <a:ea typeface="Helvetica Neue"/>
                <a:cs typeface="Helvetica Neue"/>
              </a:defRPr>
            </a:pPr>
            <a:r>
              <a:rPr sz="1500" b="0">
                <a:solidFill>
                  <a:srgbClr val="B9CBC7"/>
                </a:solidFill>
                <a:latin typeface="Helvetica Neue"/>
                <a:ea typeface="Helvetica Neue"/>
                <a:cs typeface="Helvetica Neue"/>
              </a:rPr>
              <a:t>Budgets and audit are process-local. First start needs Ollama and may download models.</a:t>
            </a:r>
          </a:p>
        </p:txBody>
      </p:sp>
    </p:spTree>
    <p:extLst>
      <p:ext uri="{BB962C8B-B14F-4D97-AF65-F5344CB8AC3E}">
        <p14:creationId xmlns:p14="http://schemas.microsoft.com/office/powerpoint/2010/main" val="1762028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2026-10-04T08:25:59.0960000Z</dcterms:created>
  <dcterms:modified xsi:type="dcterms:W3CDTF">2026-10-04T08:25:59.0960000Z</dcterms:modified>
</coreProperties>
</file>